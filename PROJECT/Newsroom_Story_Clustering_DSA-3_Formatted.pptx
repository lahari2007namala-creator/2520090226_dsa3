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9" r:id="rId18"/>
    <p:sldId id="261" r:id="rId6"/>
    <p:sldId id="265" r:id="rId7"/>
    <p:sldId id="270" r:id="rId19"/>
    <p:sldId id="266" r:id="rId10"/>
    <p:sldId id="267" r:id="rId9"/>
    <p:sldId id="260" r:id="rId11"/>
    <p:sldId id="262" r:id="rId12"/>
    <p:sldId id="271" r:id="rId20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5.xml"/><Relationship Id="rId19" Type="http://schemas.openxmlformats.org/officeDocument/2006/relationships/slide" Target="slides/slide8.xml"/><Relationship Id="rId20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54480" cy="1554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 wrap="square"/>
          <a:lstStyle/>
          <a:p>
            <a:pPr algn="ctr"/>
            <a:r>
              <a:rPr sz="1400" b="1" i="0">
                <a:solidFill>
                  <a:srgbClr val="5A5A5A"/>
                </a:solidFill>
                <a:latin typeface="Calibri"/>
              </a:rPr>
              <a:t>DATA STRUCTURES AND ALGORITHMS - 3   |   25CS2103E</a:t>
            </a:r>
          </a:p>
          <a:p>
            <a:pPr algn="ctr">
              <a:spcBef>
                <a:spcPts val="1400"/>
              </a:spcBef>
            </a:pPr>
            <a:r>
              <a:rPr sz="3000" b="1" i="0">
                <a:solidFill>
                  <a:srgbClr val="C00000"/>
                </a:solidFill>
                <a:latin typeface="Calibri"/>
              </a:rPr>
              <a:t>Newsroom Story-Clustering &amp;</a:t>
            </a:r>
          </a:p>
          <a:p>
            <a:pPr algn="ctr"/>
            <a:r>
              <a:rPr sz="3000" b="1" i="0">
                <a:solidFill>
                  <a:srgbClr val="C00000"/>
                </a:solidFill>
                <a:latin typeface="Calibri"/>
              </a:rPr>
              <a:t>Wire-Deduplication Platform</a:t>
            </a:r>
          </a:p>
          <a:p>
            <a:pPr algn="ctr">
              <a:spcBef>
                <a:spcPts val="1000"/>
              </a:spcBef>
            </a:pPr>
            <a:r>
              <a:rPr sz="1300" b="0" i="1">
                <a:solidFill>
                  <a:srgbClr val="5A5A5A"/>
                </a:solidFill>
                <a:latin typeface="Calibri"/>
              </a:rPr>
              <a:t>Clustering related news and removing near-duplicate wire copy using hashing, Union-Find, heaps and tries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49039"/>
            <a:ext cx="9418320" cy="2651760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C00000"/>
                </a:solidFill>
                <a:latin typeface="Calibri"/>
              </a:rPr>
              <a:t>SUBMITTED BY</a:t>
            </a:r>
          </a:p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2B2B2B"/>
                </a:solidFill>
                <a:latin typeface="Calibri"/>
              </a:rPr>
              <a:t>K. Keathana Vikashini  —  2520090236</a:t>
            </a:r>
          </a:p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2B2B2B"/>
                </a:solidFill>
                <a:latin typeface="Calibri"/>
              </a:rPr>
              <a:t>Lahari Namala  —  2520090226</a:t>
            </a:r>
          </a:p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2B2B2B"/>
                </a:solidFill>
                <a:latin typeface="Calibri"/>
              </a:rPr>
              <a:t>G. Karthikeya  —  2520090103</a:t>
            </a:r>
          </a:p>
          <a:p>
            <a:pPr algn="ctr">
              <a:spcBef>
                <a:spcPts val="1000"/>
              </a:spcBef>
            </a:pPr>
            <a:r>
              <a:rPr sz="1200" b="1" i="0">
                <a:solidFill>
                  <a:srgbClr val="C00000"/>
                </a:solidFill>
                <a:latin typeface="Calibri"/>
              </a:rPr>
              <a:t>UNDER THE GUIDANCE OF</a:t>
            </a:r>
          </a:p>
          <a:p>
            <a:pPr algn="ctr">
              <a:spcBef>
                <a:spcPts val="0"/>
              </a:spcBef>
            </a:pPr>
            <a:r>
              <a:rPr sz="1250" b="0" i="0">
                <a:solidFill>
                  <a:srgbClr val="2B2B2B"/>
                </a:solidFill>
                <a:latin typeface="Calibri"/>
              </a:rPr>
              <a:t>Dr. Dyuti Banerjee</a:t>
            </a:r>
          </a:p>
          <a:p>
            <a:pPr algn="ctr">
              <a:spcBef>
                <a:spcPts val="1000"/>
              </a:spcBef>
            </a:pPr>
            <a:r>
              <a:rPr sz="1150" b="0" i="0">
                <a:solidFill>
                  <a:srgbClr val="5A5A5A"/>
                </a:solidFill>
                <a:latin typeface="Calibri"/>
              </a:rPr>
              <a:t>Team Number: 8   |   Section: 13   |   A.Y. 2026-2027</a:t>
            </a:r>
          </a:p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5A5A5A"/>
                </a:solidFill>
                <a:latin typeface="Calibri"/>
              </a:rPr>
              <a:t>Hyderabad - 500090, Telangana,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68580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52525"/>
                </a:solidFill>
                <a:latin typeface="Calibri"/>
              </a:rPr>
              <a:t>News agencies and aggregators receive thousands of wire stories every day from multiple sources reporting on the same events, leading to redundant content and fragmented coverage.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52525"/>
                </a:solidFill>
                <a:latin typeface="Calibri"/>
              </a:rPr>
              <a:t>Incoming articles are tokenized and converted into similarity-comparable fingerprints using shingling and MinHash.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52525"/>
                </a:solidFill>
                <a:latin typeface="Calibri"/>
              </a:rPr>
              <a:t>A Union-Find (Disjoint Set Union) structure clusters articles that cross a similarity threshold.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52525"/>
                </a:solidFill>
                <a:latin typeface="Calibri"/>
              </a:rPr>
              <a:t>A priority queue ranks clusters by recency and source count; a trie-based index supports fast keyword lookup across headlines.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52525"/>
                </a:solidFill>
                <a:latin typeface="Calibri"/>
              </a:rPr>
              <a:t>The system is evaluated on clustering precision and recall, deduplication accuracy and processing throughput.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1">
                <a:solidFill>
                  <a:srgbClr val="C00000"/>
                </a:solidFill>
                <a:latin typeface="Calibri"/>
              </a:rPr>
              <a:t>Result: </a:t>
            </a:r>
            <a:r>
              <a:rPr sz="1150" b="0" i="1">
                <a:solidFill>
                  <a:srgbClr val="C00000"/>
                </a:solidFill>
                <a:latin typeface="Calibri"/>
              </a:rPr>
              <a:t>lower editorial workload and consolidated coverage for the reader - a practical use of hashing, graph and tree structures.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143000"/>
            <a:ext cx="3977639" cy="123444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250" b="1" i="0">
                <a:solidFill>
                  <a:srgbClr val="C00000"/>
                </a:solidFill>
                <a:latin typeface="Calibri"/>
              </a:rPr>
              <a:t>1  </a:t>
            </a:r>
            <a:r>
              <a:rPr sz="1250" b="1" i="0">
                <a:solidFill>
                  <a:srgbClr val="C00000"/>
                </a:solidFill>
                <a:latin typeface="Calibri"/>
              </a:rPr>
              <a:t>Hashing — Shingling + MinHash fingerprints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Incoming articles are tokenized and converted into similarity-comparable fingerprints using shingling and MinHash.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514600"/>
            <a:ext cx="3977639" cy="123444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250" b="1" i="0">
                <a:solidFill>
                  <a:srgbClr val="C00000"/>
                </a:solidFill>
                <a:latin typeface="Calibri"/>
              </a:rPr>
              <a:t>2  </a:t>
            </a:r>
            <a:r>
              <a:rPr sz="1250" b="1" i="0">
                <a:solidFill>
                  <a:srgbClr val="C00000"/>
                </a:solidFill>
                <a:latin typeface="Calibri"/>
              </a:rPr>
              <a:t>Graphs — Union-Find story clusters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A Union-Find (Disjoint Set Union) structure clusters articles that cross a similarity threshold.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886200"/>
            <a:ext cx="3977639" cy="123444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250" b="1" i="0">
                <a:solidFill>
                  <a:srgbClr val="C00000"/>
                </a:solidFill>
                <a:latin typeface="Calibri"/>
              </a:rPr>
              <a:t>3  </a:t>
            </a:r>
            <a:r>
              <a:rPr sz="1250" b="1" i="0">
                <a:solidFill>
                  <a:srgbClr val="C00000"/>
                </a:solidFill>
                <a:latin typeface="Calibri"/>
              </a:rPr>
              <a:t>Trees — Trie keyword index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A trie-based index supports fast keyword lookup across headlines.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3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394960" cy="100584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250" b="1" i="0">
                <a:solidFill>
                  <a:srgbClr val="C00000"/>
                </a:solidFill>
                <a:latin typeface="Calibri"/>
              </a:rPr>
              <a:t>1  </a:t>
            </a:r>
            <a:r>
              <a:rPr sz="1250" b="1" i="0">
                <a:solidFill>
                  <a:srgbClr val="C00000"/>
                </a:solidFill>
                <a:latin typeface="Calibri"/>
              </a:rPr>
              <a:t>Same event, many stories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Wire services such as Reuters, AP and PTI plus independent publishers cover the same breaking event within minutes of each 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394960" cy="100584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250" b="1" i="0">
                <a:solidFill>
                  <a:srgbClr val="C00000"/>
                </a:solidFill>
                <a:latin typeface="Calibri"/>
              </a:rPr>
              <a:t>2  </a:t>
            </a:r>
            <a:r>
              <a:rPr sz="1250" b="1" i="0">
                <a:solidFill>
                  <a:srgbClr val="C00000"/>
                </a:solidFill>
                <a:latin typeface="Calibri"/>
              </a:rPr>
              <a:t>Cluttered reader experience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Aggregators show several nearly identical articles for one story, making it hard to judge how many distinct events are actually being reported.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29000"/>
            <a:ext cx="5394960" cy="100584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250" b="1" i="0">
                <a:solidFill>
                  <a:srgbClr val="C00000"/>
                </a:solidFill>
                <a:latin typeface="Calibri"/>
              </a:rPr>
              <a:t>3  </a:t>
            </a:r>
            <a:r>
              <a:rPr sz="1250" b="1" i="0">
                <a:solidFill>
                  <a:srgbClr val="C00000"/>
                </a:solidFill>
                <a:latin typeface="Calibri"/>
              </a:rPr>
              <a:t>Manual and exact-match methods fail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Editor tagging and URL/headline matching miss paraphrased wire copy, syndicated re-publications and independent reports of the same event.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5394960" cy="118872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250" b="1" i="0">
                <a:solidFill>
                  <a:srgbClr val="C00000"/>
                </a:solidFill>
                <a:latin typeface="Calibri"/>
              </a:rPr>
              <a:t>4  </a:t>
            </a:r>
            <a:r>
              <a:rPr sz="1250" b="1" i="0">
                <a:solidFill>
                  <a:srgbClr val="C00000"/>
                </a:solidFill>
                <a:latin typeface="Calibri"/>
              </a:rPr>
              <a:t>Pairwise comparison does not scale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Comparing every new article with every stored article grows quadratically and becomes infeasible as the corpus grows.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143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Cost of comparing every pair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6002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192024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Corpus size</a:t>
                      </a:r>
                    </a:p>
                  </a:txBody>
                  <a:tcPr anchor="ctr" marL="54864" marR="54864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All-pairs comparison</a:t>
                      </a:r>
                    </a:p>
                  </a:txBody>
                  <a:tcPr anchor="ctr" marL="54864" marR="54864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Hashing + banding</a:t>
                      </a:r>
                    </a:p>
                  </a:txBody>
                  <a:tcPr anchor="ctr" marL="54864" marR="54864" marT="27432" marB="27432">
                    <a:solidFill>
                      <a:srgbClr val="C0000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1K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499,500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5K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12,497,500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10K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49,995,000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200,000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50K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1,249,975,000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1,000,000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6480" y="37947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5A5A"/>
                </a:solidFill>
                <a:latin typeface="Calibri"/>
              </a:rPr>
              <a:t>Illustrative: n(n-1)/2 exact comparisons against roughly linear candidate lookups when signatures are bucketed by hash bands.</a:t>
            </a:r>
          </a:p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5A5A"/>
                </a:solidFill>
                <a:latin typeface="Calibri"/>
              </a:rPr>
              <a:t>Comparing every new article with every stored article grows quadratically and becomes infeasible as the corpus grows.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Introduction - Core DSA Toolkit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394960" cy="16002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Hashing — Shingling &amp; MinHash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k-shingles of each article are hashed into a compact signature; Jaccard similarity is estimated from signatures instead of raw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34440"/>
            <a:ext cx="5486400" cy="16002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Graph — Union-Find (DSU)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Every similarity edge merges two articles into one story cluster. Path compression with union by rank gives near-constant amortised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5394960" cy="16002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Heap — Priority Queue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Clusters are kept ordered by freshness and by the number of distinct sources reporting the event, so the newsroom sees the biggest stories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017520"/>
            <a:ext cx="5486400" cy="16002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Tree — Trie &amp; Hash Map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Headlines and entities are indexed for prefix and keyword search in time proportional to the query length, independent of corpus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5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120640"/>
                <a:gridCol w="32004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anchor="ctr" marL="54864" marR="54864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 anchor="ctr" marL="54864" marR="54864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Relevance to This Project</a:t>
                      </a:r>
                    </a:p>
                  </a:txBody>
                  <a:tcPr anchor="ctr" marL="54864" marR="54864" marT="27432" marB="27432">
                    <a:solidFill>
                      <a:srgbClr val="C00000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Broder (1997) — On the Resemblance and
Containment of Documents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Introduced shingling and min-wise independent hashing to estimate the Jaccard similarity of two documents from small signatures.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Basis of our fingerprinting stage.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Charikar (2002) — Similarity Estimation
from Rounding Algorithms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Proposed SimHash — random hyperplane LSH that maps a document to a compact bit signature preserving cosine similarity.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Alternative fingerprint scheme considered for comparison.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Manku, Jain &amp; Das Sarma (2007) —
Detecting Near-Duplicates for Web Crawling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Applied SimHash at web scale with fast Hamming-distance lookup over billions of pages.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Evidence that fingerprinting scales to real feed volumes.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Tarjan (1975) — Efficiency of a Good but
Not Linear Set Union Algorithm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Proved that union by rank with path compression gives near-constant amortised time per operation.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Justifies Union-Find for incremental clustering.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Leskovec, Rajaraman &amp; Ullman —
Mining of Massive Datasets (LSH chapter)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Describes banding of MinHash signatures to generate candidate pairs without an all-pairs scan.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52525"/>
                          </a:solidFill>
                          <a:latin typeface="Calibri"/>
                        </a:rPr>
                        <a:t>Keeps candidate generation close to linear.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53212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1">
                <a:solidFill>
                  <a:srgbClr val="C00000"/>
                </a:solidFill>
                <a:latin typeface="Calibri"/>
              </a:rPr>
              <a:t>Common gap: </a:t>
            </a:r>
            <a:r>
              <a:rPr sz="1050" b="0" i="1">
                <a:solidFill>
                  <a:srgbClr val="C00000"/>
                </a:solidFill>
                <a:latin typeface="Calibri"/>
              </a:rPr>
              <a:t>these works target static web corpora; this project adapts them to a live newsroom stream where clusters must form and merge incrementally.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00" b="0" i="0">
                <a:solidFill>
                  <a:srgbClr val="252525"/>
                </a:solidFill>
                <a:latin typeface="Calibri"/>
              </a:rPr>
              <a:t>Given a continuous stream of wire and publisher articles, group every article reporting the same underlying event into a single story cluster and suppress near-duplicate copies - in near real time, and without comparing each new article against every article already stored.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Why this is hard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71800"/>
            <a:ext cx="5394960" cy="13716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Paraphrase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The same event is written in different words, so exact string or URL matching cannot detect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971800"/>
            <a:ext cx="5486400" cy="13716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Scale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Thousands of articles arrive daily; all-pairs comparison grows quadratically with the corpus.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26280"/>
            <a:ext cx="5394960" cy="13716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Streaming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Clusters cannot be recomputed from scratch - a new article must merge into existing clusters on arrival.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526280"/>
            <a:ext cx="5486400" cy="13716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Threshold sensitivity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A loose threshold merges unrelated events; a strict one fragments a single story into many clusters.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7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Objectives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1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Ingest &amp; preprocess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Read wire and publisher feeds, then tokenize, normalise case and punctuation, and remove stop words.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23444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2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Fingerprint articles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Build k-shingles per article and reduce them to MinHash signatures for fast similarity estimation.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23444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3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Detect near-duplicates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Compare signatures against a tunable similarity threshold to flag syndicated and paraphrased copies.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4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Cluster incrementally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Merge articles into story clusters with Union-Find using path compression and union by rank.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24612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5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Rank the clusters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Maintain a max-heap ordering clusters by recency and by the number of distinct reporting 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24612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6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Index &amp; evaluate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Index headlines in a trie for keyword lookup and measure precision, recall, accuracy and throughput.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8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03520" cy="84124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 i="0">
                <a:solidFill>
                  <a:srgbClr val="C00000"/>
                </a:solidFill>
                <a:latin typeface="Calibri"/>
              </a:rPr>
              <a:t>Language</a:t>
            </a:r>
          </a:p>
          <a:p>
            <a:r>
              <a:rPr sz="1000" b="0" i="0">
                <a:solidFill>
                  <a:srgbClr val="252525"/>
                </a:solidFill>
                <a:latin typeface="Calibri"/>
              </a:rPr>
              <a:t>Python 3.10+ (or Java / C++ for the core DSA modules)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33472"/>
            <a:ext cx="5303520" cy="84124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 i="0">
                <a:solidFill>
                  <a:srgbClr val="C00000"/>
                </a:solidFill>
                <a:latin typeface="Calibri"/>
              </a:rPr>
              <a:t>Libraries</a:t>
            </a:r>
          </a:p>
          <a:p>
            <a:r>
              <a:rPr sz="1000" b="0" i="0">
                <a:solidFill>
                  <a:srgbClr val="252525"/>
                </a:solidFill>
                <a:latin typeface="Calibri"/>
              </a:rPr>
              <a:t>NLTK or spaCy for text preprocessing, NumPy for numerical work, a hashing library for MinHash / SimHash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75304"/>
            <a:ext cx="5303520" cy="84124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 i="0">
                <a:solidFill>
                  <a:srgbClr val="C00000"/>
                </a:solidFill>
                <a:latin typeface="Calibri"/>
              </a:rPr>
              <a:t>Environment</a:t>
            </a:r>
          </a:p>
          <a:p>
            <a:r>
              <a:rPr sz="1000" b="0" i="0">
                <a:solidFill>
                  <a:srgbClr val="252525"/>
                </a:solidFill>
                <a:latin typeface="Calibri"/>
              </a:rPr>
              <a:t>VS Code or PyCharm, with Git for version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17136"/>
            <a:ext cx="5303520" cy="84124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 i="0">
                <a:solidFill>
                  <a:srgbClr val="C00000"/>
                </a:solidFill>
                <a:latin typeface="Calibri"/>
              </a:rPr>
              <a:t>Database</a:t>
            </a:r>
          </a:p>
          <a:p>
            <a:r>
              <a:rPr sz="1000" b="0" i="0">
                <a:solidFill>
                  <a:srgbClr val="252525"/>
                </a:solidFill>
                <a:latin typeface="Calibri"/>
              </a:rPr>
              <a:t>MongoDB or SQLite for article metadata and cluster assignments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58968"/>
            <a:ext cx="5303520" cy="84124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 i="0">
                <a:solidFill>
                  <a:srgbClr val="C00000"/>
                </a:solidFill>
                <a:latin typeface="Calibri"/>
              </a:rPr>
              <a:t>Operating System</a:t>
            </a:r>
          </a:p>
          <a:p>
            <a:r>
              <a:rPr sz="1000" b="0" i="0">
                <a:solidFill>
                  <a:srgbClr val="252525"/>
                </a:solidFill>
                <a:latin typeface="Calibri"/>
              </a:rPr>
              <a:t>Windows 10/11, Linux or macOS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303520" cy="84124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 i="0">
                <a:solidFill>
                  <a:srgbClr val="C00000"/>
                </a:solidFill>
                <a:latin typeface="Calibri"/>
              </a:rPr>
              <a:t>Processor</a:t>
            </a:r>
          </a:p>
          <a:p>
            <a:r>
              <a:rPr sz="1000" b="0" i="0">
                <a:solidFill>
                  <a:srgbClr val="252525"/>
                </a:solidFill>
                <a:latin typeface="Calibri"/>
              </a:rPr>
              <a:t>Intel Core i5 or higher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33472"/>
            <a:ext cx="5303520" cy="84124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 i="0">
                <a:solidFill>
                  <a:srgbClr val="C00000"/>
                </a:solidFill>
                <a:latin typeface="Calibri"/>
              </a:rPr>
              <a:t>RAM</a:t>
            </a:r>
          </a:p>
          <a:p>
            <a:r>
              <a:rPr sz="1000" b="0" i="0">
                <a:solidFill>
                  <a:srgbClr val="252525"/>
                </a:solidFill>
                <a:latin typeface="Calibri"/>
              </a:rPr>
              <a:t>Minimum 8 GB; 16 GB recommended for larger news corpora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575304"/>
            <a:ext cx="5303520" cy="84124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 i="0">
                <a:solidFill>
                  <a:srgbClr val="C00000"/>
                </a:solidFill>
                <a:latin typeface="Calibri"/>
              </a:rPr>
              <a:t>Storage</a:t>
            </a:r>
          </a:p>
          <a:p>
            <a:r>
              <a:rPr sz="1000" b="0" i="0">
                <a:solidFill>
                  <a:srgbClr val="252525"/>
                </a:solidFill>
                <a:latin typeface="Calibri"/>
              </a:rPr>
              <a:t>At least 5 GB of free disk space for datasets, indexes and 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517136"/>
            <a:ext cx="5303520" cy="84124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 i="0">
                <a:solidFill>
                  <a:srgbClr val="C00000"/>
                </a:solidFill>
                <a:latin typeface="Calibri"/>
              </a:rPr>
              <a:t>Internet</a:t>
            </a:r>
          </a:p>
          <a:p>
            <a:r>
              <a:rPr sz="1000" b="0" i="0">
                <a:solidFill>
                  <a:srgbClr val="252525"/>
                </a:solidFill>
                <a:latin typeface="Calibri"/>
              </a:rPr>
              <a:t>Required for fetching live wire-service feeds, if used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5458968"/>
            <a:ext cx="5303520" cy="84124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 i="0">
                <a:solidFill>
                  <a:srgbClr val="C00000"/>
                </a:solidFill>
                <a:latin typeface="Calibri"/>
              </a:rPr>
              <a:t>Peripherals</a:t>
            </a:r>
          </a:p>
          <a:p>
            <a:r>
              <a:rPr sz="1000" b="0" i="0">
                <a:solidFill>
                  <a:srgbClr val="252525"/>
                </a:solidFill>
                <a:latin typeface="Calibri"/>
              </a:rPr>
              <a:t>Standard display, keyboard and mouse for development and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9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2000" b="1" i="0">
                <a:solidFill>
                  <a:srgbClr val="C00000"/>
                </a:solidFill>
                <a:latin typeface="Calibri"/>
              </a:rPr>
              <a:t>≥ 0.90</a:t>
            </a:r>
          </a:p>
          <a:p>
            <a:pPr algn="ctr"/>
            <a:r>
              <a:rPr sz="1200" b="1" i="0">
                <a:solidFill>
                  <a:srgbClr val="252525"/>
                </a:solidFill>
                <a:latin typeface="Calibri"/>
              </a:rPr>
              <a:t>Precision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5A5A5A"/>
                </a:solidFill>
                <a:latin typeface="Calibri"/>
              </a:rPr>
              <a:t>of clustered pairs that truly report the same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8872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2000" b="1" i="0">
                <a:solidFill>
                  <a:srgbClr val="C00000"/>
                </a:solidFill>
                <a:latin typeface="Calibri"/>
              </a:rPr>
              <a:t>≥ 0.85</a:t>
            </a:r>
          </a:p>
          <a:p>
            <a:pPr algn="ctr"/>
            <a:r>
              <a:rPr sz="1200" b="1" i="0">
                <a:solidFill>
                  <a:srgbClr val="252525"/>
                </a:solidFill>
                <a:latin typeface="Calibri"/>
              </a:rPr>
              <a:t>Recall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5A5A5A"/>
                </a:solidFill>
                <a:latin typeface="Calibri"/>
              </a:rPr>
              <a:t>of same-event pairs correctly placed in one 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2000" b="1" i="0">
                <a:solidFill>
                  <a:srgbClr val="C00000"/>
                </a:solidFill>
                <a:latin typeface="Calibri"/>
              </a:rPr>
              <a:t>≥ 0.95</a:t>
            </a:r>
          </a:p>
          <a:p>
            <a:pPr algn="ctr"/>
            <a:r>
              <a:rPr sz="1200" b="1" i="0">
                <a:solidFill>
                  <a:srgbClr val="252525"/>
                </a:solidFill>
                <a:latin typeface="Calibri"/>
              </a:rPr>
              <a:t>Dedup accuracy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5A5A5A"/>
                </a:solidFill>
                <a:latin typeface="Calibri"/>
              </a:rPr>
              <a:t>on labelled syndicated and paraphrased copies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18872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2000" b="1" i="0">
                <a:solidFill>
                  <a:srgbClr val="C00000"/>
                </a:solidFill>
                <a:latin typeface="Calibri"/>
              </a:rPr>
              <a:t>1000+/min</a:t>
            </a:r>
          </a:p>
          <a:p>
            <a:pPr algn="ctr"/>
            <a:r>
              <a:rPr sz="1200" b="1" i="0">
                <a:solidFill>
                  <a:srgbClr val="252525"/>
                </a:solidFill>
                <a:latin typeface="Calibri"/>
              </a:rPr>
              <a:t>Throughput</a:t>
            </a:r>
          </a:p>
          <a:p>
            <a:pPr algn="ctr">
              <a:spcBef>
                <a:spcPts val="300"/>
              </a:spcBef>
            </a:pPr>
            <a:r>
              <a:rPr sz="850" b="0" i="0">
                <a:solidFill>
                  <a:srgbClr val="5A5A5A"/>
                </a:solidFill>
                <a:latin typeface="Calibri"/>
              </a:rPr>
              <a:t>articles fingerprinted and clustered on an 8 GB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A5A5A"/>
                </a:solidFill>
                <a:latin typeface="Calibri"/>
              </a:rPr>
              <a:t>Target values to be verified on a labelled multi-source news corpus.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24612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383280"/>
                <a:gridCol w="57607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 marL="54864" marR="54864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Structure Used</a:t>
                      </a:r>
                    </a:p>
                  </a:txBody>
                  <a:tcPr anchor="ctr" marL="54864" marR="54864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Time Complexity</a:t>
                      </a:r>
                    </a:p>
                  </a:txBody>
                  <a:tcPr anchor="ctr" marL="54864" marR="54864" marT="27432" marB="27432"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Fingerprinting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k-shingles + MinHash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O(S × k) per article, S shingles and k hash functions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Candidate search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Banded signature buckets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Close to linear in the number of stored articles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Clustering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Union-Find (rank + path compression)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O(α(n)) amortised per merge - effectively constant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Ranking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Binary max-heap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O(log C) per insert or update, C clusters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Keyword lookup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Trie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52525"/>
                          </a:solidFill>
                          <a:latin typeface="Calibri"/>
                        </a:rPr>
                        <a:t>O(L) in the length of the query, independent of corpus size</a:t>
                      </a:r>
                    </a:p>
                  </a:txBody>
                  <a:tcPr anchor="ctr" marL="64008" marR="64008" marT="27432" marB="27432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10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303520" cy="169164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50" b="1" i="0">
                <a:solidFill>
                  <a:srgbClr val="C00000"/>
                </a:solidFill>
                <a:latin typeface="Calibri"/>
              </a:rPr>
              <a:t>1  </a:t>
            </a:r>
            <a:r>
              <a:rPr sz="1350" b="1" i="0">
                <a:solidFill>
                  <a:srgbClr val="C00000"/>
                </a:solidFill>
                <a:latin typeface="Calibri"/>
              </a:rPr>
              <a:t>A real problem solved with classical DSA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52525"/>
                </a:solidFill>
                <a:latin typeface="Calibri"/>
              </a:rPr>
              <a:t>Hashing, Union-Find, heaps and tries together handle ingestion, deduplication, clustering, ranking and retrieval end to 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303520" cy="169164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50" b="1" i="0">
                <a:solidFill>
                  <a:srgbClr val="C00000"/>
                </a:solidFill>
                <a:latin typeface="Calibri"/>
              </a:rPr>
              <a:t>2  </a:t>
            </a:r>
            <a:r>
              <a:rPr sz="1350" b="1" i="0">
                <a:solidFill>
                  <a:srgbClr val="C00000"/>
                </a:solidFill>
                <a:latin typeface="Calibri"/>
              </a:rPr>
              <a:t>Duplicates removed without all-pairs comparison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52525"/>
                </a:solidFill>
                <a:latin typeface="Calibri"/>
              </a:rPr>
              <a:t>Signature-based candidate generation keeps the workload close to linear, so the system stays responsive as the corpus grows.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63240"/>
            <a:ext cx="5303520" cy="169164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50" b="1" i="0">
                <a:solidFill>
                  <a:srgbClr val="C00000"/>
                </a:solidFill>
                <a:latin typeface="Calibri"/>
              </a:rPr>
              <a:t>3  </a:t>
            </a:r>
            <a:r>
              <a:rPr sz="1350" b="1" i="0">
                <a:solidFill>
                  <a:srgbClr val="C00000"/>
                </a:solidFill>
                <a:latin typeface="Calibri"/>
              </a:rPr>
              <a:t>Consolidated coverage for editors and readers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52525"/>
                </a:solidFill>
                <a:latin typeface="Calibri"/>
              </a:rPr>
              <a:t>One entry per event, with visible source diversity, replaces a feed full of near-identical wire copies and reduces editorial effort.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3063240"/>
            <a:ext cx="5303520" cy="169164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50" b="1" i="0">
                <a:solidFill>
                  <a:srgbClr val="C00000"/>
                </a:solidFill>
                <a:latin typeface="Calibri"/>
              </a:rPr>
              <a:t>4  </a:t>
            </a:r>
            <a:r>
              <a:rPr sz="1350" b="1" i="0">
                <a:solidFill>
                  <a:srgbClr val="C00000"/>
                </a:solidFill>
                <a:latin typeface="Calibri"/>
              </a:rPr>
              <a:t>Simple to reason about, tune and extend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52525"/>
                </a:solidFill>
                <a:latin typeface="Calibri"/>
              </a:rPr>
              <a:t>The similarity threshold, shingle size and signature length are the only knobs, and each module can be swapped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1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Semantic clustering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Add sentence embeddings with an approximate nearest-neighbour index to catch paraphrase that shares little vocabulary.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23444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2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Multilingual coverage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Cluster English, Hindi and Telugu reports of the same event through cross-lingual representations.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23444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3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Streaming deployment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Run over a Kafka pipeline with time decay so stale clusters expire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4612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4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Entity and timeline linking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Track how a story develops across days by linking clusters through named entities.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24612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5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Editor dashboard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Let editors merge or split clusters, and feed those corrections back as tuning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246120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73152" bIns="73152"/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6  </a:t>
            </a:r>
            <a:r>
              <a:rPr sz="1300" b="1" i="0">
                <a:solidFill>
                  <a:srgbClr val="C00000"/>
                </a:solidFill>
                <a:latin typeface="Calibri"/>
              </a:rPr>
              <a:t>Source-diversity analytics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252525"/>
                </a:solidFill>
                <a:latin typeface="Calibri"/>
              </a:rPr>
              <a:t>Report how many independent outlets back each story to surface single-source claims.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References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250" b="0" i="0">
                <a:solidFill>
                  <a:srgbClr val="252525"/>
                </a:solidFill>
                <a:latin typeface="Calibri"/>
              </a:rPr>
              <a:t>1.  Broder, A. Z. (1997). On the Resemblance and Containment of Documents. Proceedings of the Compression and Complexity of Sequences.</a:t>
            </a:r>
          </a:p>
          <a:p>
            <a:pPr algn="l">
              <a:spcAft>
                <a:spcPts val="1600"/>
              </a:spcAft>
            </a:pPr>
            <a:r>
              <a:rPr sz="1250" b="0" i="0">
                <a:solidFill>
                  <a:srgbClr val="252525"/>
                </a:solidFill>
                <a:latin typeface="Calibri"/>
              </a:rPr>
              <a:t>2.  Charikar, M. (2002). Similarity Estimation Techniques from Rounding Algorithms. Proceedings of the 34th ACM Symposium on Theory of Computing (STOC).</a:t>
            </a:r>
          </a:p>
          <a:p>
            <a:pPr algn="l">
              <a:spcAft>
                <a:spcPts val="1600"/>
              </a:spcAft>
            </a:pPr>
            <a:r>
              <a:rPr sz="1250" b="0" i="0">
                <a:solidFill>
                  <a:srgbClr val="252525"/>
                </a:solidFill>
                <a:latin typeface="Calibri"/>
              </a:rPr>
              <a:t>3.  Manku, G. S., Jain, A., &amp; Das Sarma, A. (2007). Detecting Near-Duplicates for Web Crawling. Proceedings of the 16th International World Wide Web Conference (WWW).</a:t>
            </a:r>
          </a:p>
          <a:p>
            <a:pPr algn="l">
              <a:spcAft>
                <a:spcPts val="1600"/>
              </a:spcAft>
            </a:pPr>
            <a:r>
              <a:rPr sz="1250" b="0" i="0">
                <a:solidFill>
                  <a:srgbClr val="252525"/>
                </a:solidFill>
                <a:latin typeface="Calibri"/>
              </a:rPr>
              <a:t>4.  Tarjan, R. E. (1975). Efficiency of a Good but Not Linear Set Union Algorithm. Journal of the ACM, 22(2), 215-225.</a:t>
            </a:r>
          </a:p>
          <a:p>
            <a:pPr algn="l">
              <a:spcAft>
                <a:spcPts val="1600"/>
              </a:spcAft>
            </a:pPr>
            <a:r>
              <a:rPr sz="1250" b="0" i="0">
                <a:solidFill>
                  <a:srgbClr val="252525"/>
                </a:solidFill>
                <a:latin typeface="Calibri"/>
              </a:rPr>
              <a:t>5.  Leskovec, J., Rajaraman, A., &amp; Ullman, J. D. Mining of Massive Datasets. Cambridge University Press - Chapter 3, Finding Similar Items.</a:t>
            </a:r>
          </a:p>
          <a:p>
            <a:pPr algn="l">
              <a:spcAft>
                <a:spcPts val="1600"/>
              </a:spcAft>
            </a:pPr>
            <a:r>
              <a:rPr sz="1250" b="0" i="0">
                <a:solidFill>
                  <a:srgbClr val="252525"/>
                </a:solidFill>
                <a:latin typeface="Calibri"/>
              </a:rPr>
              <a:t>6.  Cormen, T. H., Leiserson, C. E., Rivest, R. L., &amp; Stein, C. Introduction to Algorithms - chapters on hash tables, disjoint sets and heaps.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Newsroom Story-Clustering &amp; Wire-Deduplication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Team 8  |  Section 13  |  13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1">
                <a:solidFill>
                  <a:srgbClr val="252525"/>
                </a:solidFill>
                <a:latin typeface="Calibri"/>
              </a:rPr>
              <a:t>Questions and suggestions are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K. Keathana Vikashini  |  Lahari Namala  |  G. Karthikeya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Team 8  |  Section 13      Guide: Dr. Dyuti Banerjee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