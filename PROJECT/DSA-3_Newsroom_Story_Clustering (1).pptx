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66" r:id="rId10"/>
    <p:sldId id="259" r:id="rId8"/>
    <p:sldId id="273" r:id="rId22"/>
    <p:sldId id="272" r:id="rId21"/>
    <p:sldId id="271" r:id="rId20"/>
    <p:sldId id="270" r:id="rId19"/>
    <p:sldId id="269" r:id="rId18"/>
    <p:sldId id="267" r:id="rId9"/>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14.xml"/><Relationship Id="rId10" Type="http://schemas.openxmlformats.org/officeDocument/2006/relationships/slide" Target="slides/slide7.xml"/><Relationship Id="rId11" Type="http://schemas.openxmlformats.org/officeDocument/2006/relationships/slide" Target="slides/slide15.xml"/><Relationship Id="rId12" Type="http://schemas.openxmlformats.org/officeDocument/2006/relationships/slide" Target="slides/slide16.xml"/><Relationship Id="rId13" Type="http://schemas.openxmlformats.org/officeDocument/2006/relationships/slide" Target="slides/slide17.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3.xml"/><Relationship Id="rId19" Type="http://schemas.openxmlformats.org/officeDocument/2006/relationships/slide" Target="slides/slide12.xml"/><Relationship Id="rId20" Type="http://schemas.openxmlformats.org/officeDocument/2006/relationships/slide" Target="slides/slide11.xml"/><Relationship Id="rId21" Type="http://schemas.openxmlformats.org/officeDocument/2006/relationships/slide" Target="slides/slide10.xml"/><Relationship Id="rId22" Type="http://schemas.openxmlformats.org/officeDocument/2006/relationships/slide" Target="slides/slide9.xml"/><Relationship Id="rId2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Team 8 from Section 13. Our DSA-3 project is the Newsroom Story Clustering and Wire Deduplication Platform. The team members are Keathana Vikashini, Lahari Namala and Karthikeya, and we worked under the guidance of Dr. Dyuti Banerjee. In one line: our system takes many news articles, groups the ones that talk about the same event into one story, and catches articles that are near-copies of each other.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flow of our presentation. We start with the abstract, introduction and literature survey, then the problem and objectives and the requirements. Next we show the flow chart, the architecture, the DSA concepts and how the key algorithms work, followed by the course outcome mapping. We end with results, conclusion and future scope.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abstract. The problem is that news agencies receive thousands of stories every day, and many are about the same event or are almost exact copies. Our platform solves this with DSA. We clean each article and make two fingerprints: 3-word shingles and a MinHash signature of 128 numbers. Jaccard similarity on shingles finds duplicate copies, and Union-Find groups similar articles into stories. A max heap ranks stories, a Trie with KMP gives search, and DP, max flow and greedy set cover help the newsroom plan the front page, assign editors and choose publishers. The keywords at the bottom are the main techniques.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real newsrooms, many publishers report the same event within minutes, and wire copies get republished with very small changes. Simple methods, like matching only the headline, miss reworded copies, and comparing every article with every other article in full is too slow. Our approach is to make small fingerprints using hashing, group similar articles using Union-Find, and show the results on a dashboard. The diagram on the right is a real example from our data: four articles about the EU AI regulation become one story, and the Euronews copy is marked as a duplicate.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work is based on well-known research. Broder introduced shingling and the Jaccard resemblance, and min-wise hashing, which is MinHash, to estimate it cheaply. We use exactly these. Charikar proposed SimHash, another compact fingerprint, which shows why fingerprints are better than full-text comparison. Henzinger compared both methods on billions of web pages. Das and others at Google used MinHash clustering in Google News to group users with similar reading history, which shows MinHash works at the scale of a real news platform. Finally, Tarjan analysed Union-Find with path compression, which makes each merge nearly constant time; we use it to build story clusters.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is the problem. Many publishers report the same event, duplicate articles appear, editors have to group them by hand, readers see repeated news, and searching and ranking become hard. On the right are our six objectives: group similar articles automatically, find near-duplicate copies, pick a lead article for each story, rank stories by priority, reach or date, give a search box and dashboard, and help with front page planning and assigning stories to editors.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our requirements. On the software side, we use Python 3.10 or above with the Flask framework for the REST API, SQLite as the database, and plain HTML, CSS and JavaScript for the frontend. Sample data is stored in JSON files, and we test with Python's unittest module. For hardware, any normal laptop works: an i5 processor, 8 GB of RAM and about 5 GB of space. Internet is only needed if we connect live news feeds. Note that our abstract listed NLTK and MongoDB as options, but in the final build we wrote the text processing and algorithms ourselves, and we used SQLite.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flow chart shows how one batch of articles is processed. We start with the news articles. We clean the text, split it into words, and remove stopwords like 'the' and 'is'. Then we build fingerprints using hashing and MinHash. We check similarity between articles: if the MinHash similarity is at least 0.12, they belong to the same story, so Union-Find joins them. If the shingle overlap is 60 percent or more, the later article is marked as a duplicate copy. Finally, stories are ranked and shown on the frontend.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system architecture. The user works on the frontend dashboard. When something changes, for example the similarity slider is moved, app.js calls our Flask REST API. Flask reads articles from the SQLite database and runs them through our DSA modules in the core folder. The result goes back as JSON and the browser redraws the story cards. Below are the files. In the frontend, index.html is the structure, style.css is the look, and app.js does the API calls. In the backend, app.py has the routes, database.py handles SQLite, clustering.py is the main pipeline, and the core folder has one file for each algorithm.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thirteen DSA concepts in our project. Tokenization and stopword removal prepare the text. Hashing and the rolling hash create fingerprints quickly. Jaccard similarity detects duplicates, and MinHash estimates similarity. Union-Find forms the clusters. A max heap ranks stories. The Trie gives prefix search, with KMP as a fallback. Dynamic programming plans the front page, max flow assigns editors, and greedy set cover chooses publishers.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the two main algorithms work. On the left is duplicate detection. We split each article into shingles, which are groups of three words in a row, and hash each one with a rolling hash. Then we compute Jaccard similarity: shared shingles divided by all shingles. If it is 60 percent or more, the later article is a duplicate. For example, the Euronews copy of a Reuters article only added the words 'on Tuesday', and the overlap is 87 percent. On the right is story clustering. MinHash creates 128 numbers for each article, and the share of matching numbers estimates similarity. If two articles are at least 0.12 similar, we join them with Union-Find. Each final set is one story; for example, the four EU AI articles form one story with the Reuters article as the lead.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other algorithms. Search uses a Trie: when the user types 'reu', we walk down r, e, u and get all Reuters articles; the time depends only on the length of the query. If nothing starts with the query, KMP searches inside headlines in linear time. Ranking uses a max heap: we pick each story's lead as the highest-scored original article, put the leads in a max heap, and pop them in order. At the bottom are three newsroom tools. The front page planner is a 0/1 knapsack solved with dynamic programming. Editor assignment is a max flow problem solved with Edmonds-Karp. Publisher coverage is set cover, which is NP-hard, so we use the greedy approximation.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maps our project to the course outcomes. CO1 is identifying problem classes: we have search, network flow and an NP-hard set cover problem. CO2 is string algorithms: KMP, the rolling hash and the Trie. CO3 is dynamic programming, used in the knapsack front page planner. CO4 is network flow, using Edmonds-Karp to assign editors. CO5 is greedy approximation for set cover. CO6 is randomized algorithms, which we use through MinHash.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our results on the sample data. We give 20 articles as input, and the system produces 7 stories and catches 3 duplicate copies. All 15 unit tests pass. The table shows the 7 stories ranked by priority score, with the number of articles and duplicates in each. On the right: duplicates had 83 to 87 percent overlap, the dashboard shows story cards and instant search, the front page planner picks the best 4 stories for 8 slots, max flow assigns all 7 stories to our 5 editors without overloading anyone, and greedy set cover finds that only 4 of the 15 publishers are needed to cover every story.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our project shows that real newsroom problems can be solved with core DSA concepts. It combines a frontend, a backend, a database and algorithms into one working platform. It is faster, because hashing and MinHash avoid comparing full texts. It is cleaner, because duplicates are removed and each story appears once. And it is smarter, because ranking, search, front page planning and editor assignment are all in one dashboard.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many ways to extend this project. We can read live RSS and wire feeds instead of sample data. To handle millions of articles, we can add LSH banding on top of MinHash, so we only compare likely pairs. We can support Indian languages like Hindi and Telugu. We can use sentence embeddings to catch stories that are reworded heavily. Entity tagging can improve grouping, and finally the system can be deployed on the cloud with PostgreSQL and user logins.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We are happy to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26080" y="868680"/>
            <a:ext cx="8778240" cy="2194560"/>
          </a:xfrm>
        </p:spPr>
        <p:txBody>
          <a:bodyPr wrap="square" anchor="ctr"/>
          <a:lstStyle/>
          <a:p>
            <a:pPr algn="ctr"/>
            <a:r>
              <a:rPr sz="2800" b="1">
                <a:solidFill>
                  <a:srgbClr val="C00000"/>
                </a:solidFill>
              </a:rPr>
              <a:t>Data Structures and Algorithms -3 (25CS2103E)</a:t>
            </a:r>
          </a:p>
          <a:p>
            <a:pPr algn="ctr">
              <a:spcBef>
                <a:spcPts val="1400"/>
              </a:spcBef>
            </a:pPr>
            <a:r>
              <a:rPr sz="3600" b="1">
                <a:solidFill>
                  <a:srgbClr val="C00000"/>
                </a:solidFill>
              </a:rPr>
              <a:t>Newsroom Story Clustering and Wire Deduplication Platform</a:t>
            </a:r>
          </a:p>
        </p:txBody>
      </p:sp>
      <p:sp>
        <p:nvSpPr>
          <p:cNvPr id="3" name="Subtitle 2"/>
          <p:cNvSpPr>
            <a:spLocks noGrp="1"/>
          </p:cNvSpPr>
          <p:nvPr>
            <p:ph type="subTitle" idx="1"/>
          </p:nvPr>
        </p:nvSpPr>
        <p:spPr>
          <a:xfrm>
            <a:off x="3383280" y="3200400"/>
            <a:ext cx="7863840" cy="3108960"/>
          </a:xfrm>
        </p:spPr>
        <p:txBody>
          <a:bodyPr wrap="square"/>
          <a:lstStyle/>
          <a:p>
            <a:pPr algn="ctr">
              <a:spcAft>
                <a:spcPts val="200"/>
              </a:spcAft>
            </a:pPr>
            <a:r>
              <a:rPr sz="1800" b="1">
                <a:solidFill>
                  <a:srgbClr val="0070C0"/>
                </a:solidFill>
                <a:latin typeface="Calibri"/>
              </a:rPr>
              <a:t>Team Members  (Team 8, Section 13)</a:t>
            </a:r>
          </a:p>
          <a:p>
            <a:pPr algn="ctr">
              <a:spcAft>
                <a:spcPts val="200"/>
              </a:spcAft>
            </a:pPr>
            <a:r>
              <a:rPr sz="1700" b="0">
                <a:solidFill>
                  <a:srgbClr val="0070C0"/>
                </a:solidFill>
                <a:latin typeface="Calibri"/>
              </a:rPr>
              <a:t>K. Keathana Vikashini  -  2520090236</a:t>
            </a:r>
          </a:p>
          <a:p>
            <a:pPr algn="ctr">
              <a:spcAft>
                <a:spcPts val="200"/>
              </a:spcAft>
            </a:pPr>
            <a:r>
              <a:rPr sz="1700" b="0">
                <a:solidFill>
                  <a:srgbClr val="0070C0"/>
                </a:solidFill>
                <a:latin typeface="Calibri"/>
              </a:rPr>
              <a:t>Lahari Namala  -  2520090226</a:t>
            </a:r>
          </a:p>
          <a:p>
            <a:pPr algn="ctr">
              <a:spcAft>
                <a:spcPts val="200"/>
              </a:spcAft>
            </a:pPr>
            <a:r>
              <a:rPr sz="1700" b="0">
                <a:solidFill>
                  <a:srgbClr val="0070C0"/>
                </a:solidFill>
                <a:latin typeface="Calibri"/>
              </a:rPr>
              <a:t>G. Karthikeya  -  2520090103</a:t>
            </a:r>
          </a:p>
          <a:p>
            <a:pPr algn="ctr">
              <a:spcAft>
                <a:spcPts val="200"/>
              </a:spcAft>
            </a:pPr>
            <a:r>
              <a:rPr sz="1000" b="0">
                <a:solidFill>
                  <a:srgbClr val="262626"/>
                </a:solidFill>
                <a:latin typeface="Calibri"/>
              </a:rPr>
              <a:t/>
            </a:r>
          </a:p>
          <a:p>
            <a:pPr algn="ctr">
              <a:spcAft>
                <a:spcPts val="200"/>
              </a:spcAft>
            </a:pPr>
            <a:r>
              <a:rPr sz="1700" b="0">
                <a:solidFill>
                  <a:srgbClr val="262626"/>
                </a:solidFill>
                <a:latin typeface="Times New Roman"/>
              </a:rPr>
              <a:t>Under the Esteemed Guidance of</a:t>
            </a:r>
          </a:p>
          <a:p>
            <a:pPr algn="ctr">
              <a:spcAft>
                <a:spcPts val="200"/>
              </a:spcAft>
            </a:pPr>
            <a:r>
              <a:rPr sz="1900" b="1">
                <a:solidFill>
                  <a:srgbClr val="262626"/>
                </a:solidFill>
                <a:latin typeface="Times New Roman"/>
              </a:rPr>
              <a:t>Dr. Dyuti Banerjee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3EAC2F32-24D5-FDE9-EB0F-31C7733C95E6}"/>
              </a:ext>
            </a:extLst>
          </p:cNvPr>
          <p:cNvSpPr/>
          <p:nvPr/>
        </p:nvSpPr>
        <p:spPr>
          <a:xfrm>
            <a:off x="3901440" y="219456"/>
            <a:ext cx="4389120" cy="566928"/>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600" b="1">
                <a:solidFill>
                  <a:srgbClr val="FFFFFF"/>
                </a:solidFill>
                <a:latin typeface="Calibri"/>
              </a:rPr>
              <a:t>Contents</a:t>
            </a:r>
            <a:endParaRPr lang="en-US"/>
          </a:p>
        </p:txBody>
      </p:sp>
      <p:sp>
        <p:nvSpPr>
          <p:cNvPr id="9" name="Oval 8"/>
          <p:cNvSpPr/>
          <p:nvPr/>
        </p:nvSpPr>
        <p:spPr>
          <a:xfrm>
            <a:off x="3108960" y="1234440"/>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1</a:t>
            </a:r>
          </a:p>
        </p:txBody>
      </p:sp>
      <p:sp>
        <p:nvSpPr>
          <p:cNvPr id="10" name="TextBox 9"/>
          <p:cNvSpPr txBox="1"/>
          <p:nvPr/>
        </p:nvSpPr>
        <p:spPr>
          <a:xfrm>
            <a:off x="3794760" y="1234440"/>
            <a:ext cx="3840480" cy="502920"/>
          </a:xfrm>
          <a:prstGeom prst="rect">
            <a:avLst/>
          </a:prstGeom>
          <a:noFill/>
        </p:spPr>
        <p:txBody>
          <a:bodyPr wrap="square" lIns="0" rIns="0" tIns="0" bIns="0" anchor="ctr">
            <a:spAutoFit/>
          </a:bodyPr>
          <a:lstStyle/>
          <a:p>
            <a:pPr algn="l">
              <a:spcAft>
                <a:spcPts val="600"/>
              </a:spcAft>
            </a:pPr>
            <a:r>
              <a:rPr sz="1900" b="0" i="0">
                <a:solidFill>
                  <a:srgbClr val="262626"/>
                </a:solidFill>
                <a:latin typeface="Calibri"/>
              </a:rPr>
              <a:t>Abstract</a:t>
            </a:r>
          </a:p>
        </p:txBody>
      </p:sp>
      <p:sp>
        <p:nvSpPr>
          <p:cNvPr id="11" name="Oval 10"/>
          <p:cNvSpPr/>
          <p:nvPr/>
        </p:nvSpPr>
        <p:spPr>
          <a:xfrm>
            <a:off x="3108960" y="1920240"/>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2</a:t>
            </a:r>
          </a:p>
        </p:txBody>
      </p:sp>
      <p:sp>
        <p:nvSpPr>
          <p:cNvPr id="12" name="TextBox 11"/>
          <p:cNvSpPr txBox="1"/>
          <p:nvPr/>
        </p:nvSpPr>
        <p:spPr>
          <a:xfrm>
            <a:off x="3794760" y="1920240"/>
            <a:ext cx="3840480" cy="502920"/>
          </a:xfrm>
          <a:prstGeom prst="rect">
            <a:avLst/>
          </a:prstGeom>
          <a:noFill/>
        </p:spPr>
        <p:txBody>
          <a:bodyPr wrap="square" lIns="0" rIns="0" tIns="0" bIns="0" anchor="ctr">
            <a:spAutoFit/>
          </a:bodyPr>
          <a:lstStyle/>
          <a:p>
            <a:pPr algn="l">
              <a:spcAft>
                <a:spcPts val="600"/>
              </a:spcAft>
            </a:pPr>
            <a:r>
              <a:rPr sz="1900" b="0" i="0">
                <a:solidFill>
                  <a:srgbClr val="262626"/>
                </a:solidFill>
                <a:latin typeface="Calibri"/>
              </a:rPr>
              <a:t>Introduction</a:t>
            </a:r>
          </a:p>
        </p:txBody>
      </p:sp>
      <p:sp>
        <p:nvSpPr>
          <p:cNvPr id="13" name="Oval 12"/>
          <p:cNvSpPr/>
          <p:nvPr/>
        </p:nvSpPr>
        <p:spPr>
          <a:xfrm>
            <a:off x="3108960" y="2606040"/>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3</a:t>
            </a:r>
          </a:p>
        </p:txBody>
      </p:sp>
      <p:sp>
        <p:nvSpPr>
          <p:cNvPr id="14" name="TextBox 13"/>
          <p:cNvSpPr txBox="1"/>
          <p:nvPr/>
        </p:nvSpPr>
        <p:spPr>
          <a:xfrm>
            <a:off x="3794760" y="2606040"/>
            <a:ext cx="3840480" cy="502920"/>
          </a:xfrm>
          <a:prstGeom prst="rect">
            <a:avLst/>
          </a:prstGeom>
          <a:noFill/>
        </p:spPr>
        <p:txBody>
          <a:bodyPr wrap="square" lIns="0" rIns="0" tIns="0" bIns="0" anchor="ctr">
            <a:spAutoFit/>
          </a:bodyPr>
          <a:lstStyle/>
          <a:p>
            <a:pPr algn="l">
              <a:spcAft>
                <a:spcPts val="600"/>
              </a:spcAft>
            </a:pPr>
            <a:r>
              <a:rPr sz="1900" b="0" i="0">
                <a:solidFill>
                  <a:srgbClr val="262626"/>
                </a:solidFill>
                <a:latin typeface="Calibri"/>
              </a:rPr>
              <a:t>Literature Survey</a:t>
            </a:r>
          </a:p>
        </p:txBody>
      </p:sp>
      <p:sp>
        <p:nvSpPr>
          <p:cNvPr id="15" name="Oval 14"/>
          <p:cNvSpPr/>
          <p:nvPr/>
        </p:nvSpPr>
        <p:spPr>
          <a:xfrm>
            <a:off x="3108960" y="3291840"/>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4</a:t>
            </a:r>
          </a:p>
        </p:txBody>
      </p:sp>
      <p:sp>
        <p:nvSpPr>
          <p:cNvPr id="16" name="TextBox 15"/>
          <p:cNvSpPr txBox="1"/>
          <p:nvPr/>
        </p:nvSpPr>
        <p:spPr>
          <a:xfrm>
            <a:off x="3794760" y="3291840"/>
            <a:ext cx="3840480" cy="502920"/>
          </a:xfrm>
          <a:prstGeom prst="rect">
            <a:avLst/>
          </a:prstGeom>
          <a:noFill/>
        </p:spPr>
        <p:txBody>
          <a:bodyPr wrap="square" lIns="0" rIns="0" tIns="0" bIns="0" anchor="ctr">
            <a:spAutoFit/>
          </a:bodyPr>
          <a:lstStyle/>
          <a:p>
            <a:pPr algn="l">
              <a:spcAft>
                <a:spcPts val="600"/>
              </a:spcAft>
            </a:pPr>
            <a:r>
              <a:rPr sz="1900" b="0" i="0">
                <a:solidFill>
                  <a:srgbClr val="262626"/>
                </a:solidFill>
                <a:latin typeface="Calibri"/>
              </a:rPr>
              <a:t>Problem Statement and Objectives</a:t>
            </a:r>
          </a:p>
        </p:txBody>
      </p:sp>
      <p:sp>
        <p:nvSpPr>
          <p:cNvPr id="17" name="Oval 16"/>
          <p:cNvSpPr/>
          <p:nvPr/>
        </p:nvSpPr>
        <p:spPr>
          <a:xfrm>
            <a:off x="3108960" y="3977639"/>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5</a:t>
            </a:r>
          </a:p>
        </p:txBody>
      </p:sp>
      <p:sp>
        <p:nvSpPr>
          <p:cNvPr id="18" name="TextBox 17"/>
          <p:cNvSpPr txBox="1"/>
          <p:nvPr/>
        </p:nvSpPr>
        <p:spPr>
          <a:xfrm>
            <a:off x="3794760" y="3977639"/>
            <a:ext cx="3840480" cy="502920"/>
          </a:xfrm>
          <a:prstGeom prst="rect">
            <a:avLst/>
          </a:prstGeom>
          <a:noFill/>
        </p:spPr>
        <p:txBody>
          <a:bodyPr wrap="square" lIns="0" rIns="0" tIns="0" bIns="0" anchor="ctr">
            <a:spAutoFit/>
          </a:bodyPr>
          <a:lstStyle/>
          <a:p>
            <a:pPr algn="l">
              <a:spcAft>
                <a:spcPts val="600"/>
              </a:spcAft>
            </a:pPr>
            <a:r>
              <a:rPr sz="1900" b="0" i="0">
                <a:solidFill>
                  <a:srgbClr val="262626"/>
                </a:solidFill>
                <a:latin typeface="Calibri"/>
              </a:rPr>
              <a:t>Hardware and Software Requirements</a:t>
            </a:r>
          </a:p>
        </p:txBody>
      </p:sp>
      <p:sp>
        <p:nvSpPr>
          <p:cNvPr id="19" name="Oval 18"/>
          <p:cNvSpPr/>
          <p:nvPr/>
        </p:nvSpPr>
        <p:spPr>
          <a:xfrm>
            <a:off x="3108960" y="4663440"/>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6</a:t>
            </a:r>
          </a:p>
        </p:txBody>
      </p:sp>
      <p:sp>
        <p:nvSpPr>
          <p:cNvPr id="20" name="TextBox 19"/>
          <p:cNvSpPr txBox="1"/>
          <p:nvPr/>
        </p:nvSpPr>
        <p:spPr>
          <a:xfrm>
            <a:off x="3794760" y="4663440"/>
            <a:ext cx="3840480" cy="502920"/>
          </a:xfrm>
          <a:prstGeom prst="rect">
            <a:avLst/>
          </a:prstGeom>
          <a:noFill/>
        </p:spPr>
        <p:txBody>
          <a:bodyPr wrap="square" lIns="0" rIns="0" tIns="0" bIns="0" anchor="ctr">
            <a:spAutoFit/>
          </a:bodyPr>
          <a:lstStyle/>
          <a:p>
            <a:pPr algn="l">
              <a:spcAft>
                <a:spcPts val="600"/>
              </a:spcAft>
            </a:pPr>
            <a:r>
              <a:rPr sz="1900" b="0" i="0">
                <a:solidFill>
                  <a:srgbClr val="262626"/>
                </a:solidFill>
                <a:latin typeface="Calibri"/>
              </a:rPr>
              <a:t>Flow Chart</a:t>
            </a:r>
          </a:p>
        </p:txBody>
      </p:sp>
      <p:sp>
        <p:nvSpPr>
          <p:cNvPr id="21" name="Oval 20"/>
          <p:cNvSpPr/>
          <p:nvPr/>
        </p:nvSpPr>
        <p:spPr>
          <a:xfrm>
            <a:off x="3108960" y="5349240"/>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7</a:t>
            </a:r>
          </a:p>
        </p:txBody>
      </p:sp>
      <p:sp>
        <p:nvSpPr>
          <p:cNvPr id="22" name="TextBox 21"/>
          <p:cNvSpPr txBox="1"/>
          <p:nvPr/>
        </p:nvSpPr>
        <p:spPr>
          <a:xfrm>
            <a:off x="3794760" y="5349240"/>
            <a:ext cx="3840480" cy="502920"/>
          </a:xfrm>
          <a:prstGeom prst="rect">
            <a:avLst/>
          </a:prstGeom>
          <a:noFill/>
        </p:spPr>
        <p:txBody>
          <a:bodyPr wrap="square" lIns="0" rIns="0" tIns="0" bIns="0" anchor="ctr">
            <a:spAutoFit/>
          </a:bodyPr>
          <a:lstStyle/>
          <a:p>
            <a:pPr algn="l">
              <a:spcAft>
                <a:spcPts val="600"/>
              </a:spcAft>
            </a:pPr>
            <a:r>
              <a:rPr sz="1900" b="0" i="0">
                <a:solidFill>
                  <a:srgbClr val="262626"/>
                </a:solidFill>
                <a:latin typeface="Calibri"/>
              </a:rPr>
              <a:t>System Architecture</a:t>
            </a:r>
          </a:p>
        </p:txBody>
      </p:sp>
      <p:sp>
        <p:nvSpPr>
          <p:cNvPr id="23" name="Oval 22"/>
          <p:cNvSpPr/>
          <p:nvPr/>
        </p:nvSpPr>
        <p:spPr>
          <a:xfrm>
            <a:off x="7680960" y="1234440"/>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8</a:t>
            </a:r>
          </a:p>
        </p:txBody>
      </p:sp>
      <p:sp>
        <p:nvSpPr>
          <p:cNvPr id="24" name="TextBox 23"/>
          <p:cNvSpPr txBox="1"/>
          <p:nvPr/>
        </p:nvSpPr>
        <p:spPr>
          <a:xfrm>
            <a:off x="8366760" y="1234440"/>
            <a:ext cx="3840480" cy="502920"/>
          </a:xfrm>
          <a:prstGeom prst="rect">
            <a:avLst/>
          </a:prstGeom>
          <a:noFill/>
        </p:spPr>
        <p:txBody>
          <a:bodyPr wrap="square" lIns="0" rIns="0" tIns="0" bIns="0" anchor="ctr">
            <a:spAutoFit/>
          </a:bodyPr>
          <a:lstStyle/>
          <a:p>
            <a:pPr algn="l">
              <a:spcAft>
                <a:spcPts val="600"/>
              </a:spcAft>
            </a:pPr>
            <a:r>
              <a:rPr sz="1900" b="0" i="0">
                <a:solidFill>
                  <a:srgbClr val="262626"/>
                </a:solidFill>
                <a:latin typeface="Calibri"/>
              </a:rPr>
              <a:t>DSA Concepts Used</a:t>
            </a:r>
          </a:p>
        </p:txBody>
      </p:sp>
      <p:sp>
        <p:nvSpPr>
          <p:cNvPr id="25" name="Oval 24"/>
          <p:cNvSpPr/>
          <p:nvPr/>
        </p:nvSpPr>
        <p:spPr>
          <a:xfrm>
            <a:off x="7680960" y="1920240"/>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9</a:t>
            </a:r>
          </a:p>
        </p:txBody>
      </p:sp>
      <p:sp>
        <p:nvSpPr>
          <p:cNvPr id="26" name="TextBox 25"/>
          <p:cNvSpPr txBox="1"/>
          <p:nvPr/>
        </p:nvSpPr>
        <p:spPr>
          <a:xfrm>
            <a:off x="8366760" y="1920240"/>
            <a:ext cx="3840480" cy="502920"/>
          </a:xfrm>
          <a:prstGeom prst="rect">
            <a:avLst/>
          </a:prstGeom>
          <a:noFill/>
        </p:spPr>
        <p:txBody>
          <a:bodyPr wrap="square" lIns="0" rIns="0" tIns="0" bIns="0" anchor="ctr">
            <a:spAutoFit/>
          </a:bodyPr>
          <a:lstStyle/>
          <a:p>
            <a:pPr algn="l">
              <a:spcAft>
                <a:spcPts val="600"/>
              </a:spcAft>
            </a:pPr>
            <a:r>
              <a:rPr sz="1900" b="0" i="0">
                <a:solidFill>
                  <a:srgbClr val="262626"/>
                </a:solidFill>
                <a:latin typeface="Calibri"/>
              </a:rPr>
              <a:t>Working of Key Algorithms</a:t>
            </a:r>
          </a:p>
        </p:txBody>
      </p:sp>
      <p:sp>
        <p:nvSpPr>
          <p:cNvPr id="27" name="Oval 26"/>
          <p:cNvSpPr/>
          <p:nvPr/>
        </p:nvSpPr>
        <p:spPr>
          <a:xfrm>
            <a:off x="7680960" y="2606040"/>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10</a:t>
            </a:r>
          </a:p>
        </p:txBody>
      </p:sp>
      <p:sp>
        <p:nvSpPr>
          <p:cNvPr id="28" name="TextBox 27"/>
          <p:cNvSpPr txBox="1"/>
          <p:nvPr/>
        </p:nvSpPr>
        <p:spPr>
          <a:xfrm>
            <a:off x="8366760" y="2606040"/>
            <a:ext cx="3840480" cy="502920"/>
          </a:xfrm>
          <a:prstGeom prst="rect">
            <a:avLst/>
          </a:prstGeom>
          <a:noFill/>
        </p:spPr>
        <p:txBody>
          <a:bodyPr wrap="square" lIns="0" rIns="0" tIns="0" bIns="0" anchor="ctr">
            <a:spAutoFit/>
          </a:bodyPr>
          <a:lstStyle/>
          <a:p>
            <a:pPr algn="l">
              <a:spcAft>
                <a:spcPts val="600"/>
              </a:spcAft>
            </a:pPr>
            <a:r>
              <a:rPr sz="1900" b="0" i="0">
                <a:solidFill>
                  <a:srgbClr val="262626"/>
                </a:solidFill>
                <a:latin typeface="Calibri"/>
              </a:rPr>
              <a:t>CO Mapping</a:t>
            </a:r>
          </a:p>
        </p:txBody>
      </p:sp>
      <p:sp>
        <p:nvSpPr>
          <p:cNvPr id="29" name="Oval 28"/>
          <p:cNvSpPr/>
          <p:nvPr/>
        </p:nvSpPr>
        <p:spPr>
          <a:xfrm>
            <a:off x="7680960" y="3291840"/>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11</a:t>
            </a:r>
          </a:p>
        </p:txBody>
      </p:sp>
      <p:sp>
        <p:nvSpPr>
          <p:cNvPr id="30" name="TextBox 29"/>
          <p:cNvSpPr txBox="1"/>
          <p:nvPr/>
        </p:nvSpPr>
        <p:spPr>
          <a:xfrm>
            <a:off x="8366760" y="3291840"/>
            <a:ext cx="3840480" cy="502920"/>
          </a:xfrm>
          <a:prstGeom prst="rect">
            <a:avLst/>
          </a:prstGeom>
          <a:noFill/>
        </p:spPr>
        <p:txBody>
          <a:bodyPr wrap="square" lIns="0" rIns="0" tIns="0" bIns="0" anchor="ctr">
            <a:spAutoFit/>
          </a:bodyPr>
          <a:lstStyle/>
          <a:p>
            <a:pPr algn="l">
              <a:spcAft>
                <a:spcPts val="600"/>
              </a:spcAft>
            </a:pPr>
            <a:r>
              <a:rPr sz="1900" b="0" i="0">
                <a:solidFill>
                  <a:srgbClr val="262626"/>
                </a:solidFill>
                <a:latin typeface="Calibri"/>
              </a:rPr>
              <a:t>Results</a:t>
            </a:r>
          </a:p>
        </p:txBody>
      </p:sp>
      <p:sp>
        <p:nvSpPr>
          <p:cNvPr id="31" name="Oval 30"/>
          <p:cNvSpPr/>
          <p:nvPr/>
        </p:nvSpPr>
        <p:spPr>
          <a:xfrm>
            <a:off x="7680960" y="3977639"/>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12</a:t>
            </a:r>
          </a:p>
        </p:txBody>
      </p:sp>
      <p:sp>
        <p:nvSpPr>
          <p:cNvPr id="32" name="TextBox 31"/>
          <p:cNvSpPr txBox="1"/>
          <p:nvPr/>
        </p:nvSpPr>
        <p:spPr>
          <a:xfrm>
            <a:off x="8366760" y="3977639"/>
            <a:ext cx="3840480" cy="502920"/>
          </a:xfrm>
          <a:prstGeom prst="rect">
            <a:avLst/>
          </a:prstGeom>
          <a:noFill/>
        </p:spPr>
        <p:txBody>
          <a:bodyPr wrap="square" lIns="0" rIns="0" tIns="0" bIns="0" anchor="ctr">
            <a:spAutoFit/>
          </a:bodyPr>
          <a:lstStyle/>
          <a:p>
            <a:pPr algn="l">
              <a:spcAft>
                <a:spcPts val="600"/>
              </a:spcAft>
            </a:pPr>
            <a:r>
              <a:rPr sz="1900" b="0" i="0">
                <a:solidFill>
                  <a:srgbClr val="262626"/>
                </a:solidFill>
                <a:latin typeface="Calibri"/>
              </a:rPr>
              <a:t>Conclusion</a:t>
            </a:r>
          </a:p>
        </p:txBody>
      </p:sp>
      <p:sp>
        <p:nvSpPr>
          <p:cNvPr id="33" name="Oval 32"/>
          <p:cNvSpPr/>
          <p:nvPr/>
        </p:nvSpPr>
        <p:spPr>
          <a:xfrm>
            <a:off x="7680960" y="4663440"/>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13</a:t>
            </a:r>
          </a:p>
        </p:txBody>
      </p:sp>
      <p:sp>
        <p:nvSpPr>
          <p:cNvPr id="34" name="TextBox 33"/>
          <p:cNvSpPr txBox="1"/>
          <p:nvPr/>
        </p:nvSpPr>
        <p:spPr>
          <a:xfrm>
            <a:off x="8366760" y="4663440"/>
            <a:ext cx="3840480" cy="502920"/>
          </a:xfrm>
          <a:prstGeom prst="rect">
            <a:avLst/>
          </a:prstGeom>
          <a:noFill/>
        </p:spPr>
        <p:txBody>
          <a:bodyPr wrap="square" lIns="0" rIns="0" tIns="0" bIns="0" anchor="ctr">
            <a:spAutoFit/>
          </a:bodyPr>
          <a:lstStyle/>
          <a:p>
            <a:pPr algn="l">
              <a:spcAft>
                <a:spcPts val="600"/>
              </a:spcAft>
            </a:pPr>
            <a:r>
              <a:rPr sz="1900" b="0" i="0">
                <a:solidFill>
                  <a:srgbClr val="262626"/>
                </a:solidFill>
                <a:latin typeface="Calibri"/>
              </a:rPr>
              <a:t>Future Scope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901440" y="219456"/>
            <a:ext cx="4389120" cy="566928"/>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600" b="1">
                <a:solidFill>
                  <a:srgbClr val="FFFFFF"/>
                </a:solidFill>
                <a:latin typeface="Calibri"/>
              </a:rPr>
              <a:t>Abstract</a:t>
            </a:r>
            <a:endParaRPr lang="en-US"/>
          </a:p>
        </p:txBody>
      </p:sp>
      <p:sp>
        <p:nvSpPr>
          <p:cNvPr id="4" name="Rounded Rectangle 3"/>
          <p:cNvSpPr/>
          <p:nvPr/>
        </p:nvSpPr>
        <p:spPr>
          <a:xfrm>
            <a:off x="822960" y="1143000"/>
            <a:ext cx="10543032" cy="36118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97280" y="1325880"/>
            <a:ext cx="9994392" cy="3291840"/>
          </a:xfrm>
          <a:prstGeom prst="rect">
            <a:avLst/>
          </a:prstGeom>
          <a:noFill/>
        </p:spPr>
        <p:txBody>
          <a:bodyPr wrap="square" lIns="0" rIns="0" tIns="0" bIns="0" anchor="t">
            <a:spAutoFit/>
          </a:bodyPr>
          <a:lstStyle/>
          <a:p>
            <a:pPr algn="l">
              <a:spcAft>
                <a:spcPts val="1000"/>
              </a:spcAft>
            </a:pPr>
            <a:r>
              <a:rPr sz="1700" b="0" i="0">
                <a:solidFill>
                  <a:srgbClr val="262626"/>
                </a:solidFill>
                <a:latin typeface="Calibri"/>
              </a:rPr>
              <a:t>News agencies receive thousands of wire stories every day. Many of them report the same event, and many are near-copies of the same wire text. This makes the feed cluttered for readers and adds manual work for editors.</a:t>
            </a:r>
          </a:p>
          <a:p>
            <a:pPr algn="l">
              <a:spcAft>
                <a:spcPts val="1000"/>
              </a:spcAft>
            </a:pPr>
            <a:r>
              <a:rPr sz="1700" b="0" i="0">
                <a:solidFill>
                  <a:srgbClr val="262626"/>
                </a:solidFill>
                <a:latin typeface="Calibri"/>
              </a:rPr>
              <a:t>Our platform groups related articles into story clusters and removes near-duplicate copies using core DSA techniques. Each article is cleaned and turned into 3-word shingles and a 128-value MinHash signature. Jaccard similarity flags duplicate copies, and a Union-Find structure merges similar articles into stories. A max heap ranks the stories, and a Trie with KMP fallback gives fast search. Dynamic programming, max flow and greedy set cover support front-page planning, editor assignment and publisher coverage.</a:t>
            </a:r>
          </a:p>
          <a:p>
            <a:pPr algn="l">
              <a:spcAft>
                <a:spcPts val="1000"/>
              </a:spcAft>
            </a:pPr>
            <a:r>
              <a:rPr sz="1700" b="0" i="0">
                <a:solidFill>
                  <a:srgbClr val="262626"/>
                </a:solidFill>
                <a:latin typeface="Calibri"/>
              </a:rPr>
              <a:t>The system is built with Python (Flask), SQLite and an HTML/CSS/JavaScript dashboard.</a:t>
            </a:r>
          </a:p>
        </p:txBody>
      </p:sp>
      <p:sp>
        <p:nvSpPr>
          <p:cNvPr id="6" name="TextBox 5"/>
          <p:cNvSpPr txBox="1"/>
          <p:nvPr/>
        </p:nvSpPr>
        <p:spPr>
          <a:xfrm>
            <a:off x="822960" y="4983480"/>
            <a:ext cx="5486400" cy="365760"/>
          </a:xfrm>
          <a:prstGeom prst="rect">
            <a:avLst/>
          </a:prstGeom>
          <a:noFill/>
        </p:spPr>
        <p:txBody>
          <a:bodyPr wrap="square" lIns="0" rIns="0" tIns="0" bIns="0" anchor="t">
            <a:spAutoFit/>
          </a:bodyPr>
          <a:lstStyle/>
          <a:p>
            <a:pPr algn="l">
              <a:spcAft>
                <a:spcPts val="600"/>
              </a:spcAft>
            </a:pPr>
            <a:r>
              <a:rPr sz="1600" b="1" i="0">
                <a:solidFill>
                  <a:srgbClr val="C00000"/>
                </a:solidFill>
                <a:latin typeface="Calibri"/>
              </a:rPr>
              <a:t>Keywords</a:t>
            </a:r>
          </a:p>
        </p:txBody>
      </p:sp>
      <p:sp>
        <p:nvSpPr>
          <p:cNvPr id="7" name="Rounded Rectangle 6"/>
          <p:cNvSpPr/>
          <p:nvPr/>
        </p:nvSpPr>
        <p:spPr>
          <a:xfrm>
            <a:off x="822960" y="5440680"/>
            <a:ext cx="1074420" cy="457200"/>
          </a:xfrm>
          <a:prstGeom prst="roundRect">
            <a:avLst>
              <a:gd name="adj" fmla="val 8000"/>
            </a:avLst>
          </a:prstGeom>
          <a:solidFill>
            <a:srgbClr val="FBE5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C00000"/>
                </a:solidFill>
                <a:latin typeface="Calibri"/>
              </a:rPr>
              <a:t>Shingling</a:t>
            </a:r>
          </a:p>
        </p:txBody>
      </p:sp>
      <p:sp>
        <p:nvSpPr>
          <p:cNvPr id="8" name="Rounded Rectangle 7"/>
          <p:cNvSpPr/>
          <p:nvPr/>
        </p:nvSpPr>
        <p:spPr>
          <a:xfrm>
            <a:off x="2007107" y="5440680"/>
            <a:ext cx="900684" cy="457200"/>
          </a:xfrm>
          <a:prstGeom prst="roundRect">
            <a:avLst>
              <a:gd name="adj" fmla="val 8000"/>
            </a:avLst>
          </a:prstGeom>
          <a:solidFill>
            <a:srgbClr val="FBE5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C00000"/>
                </a:solidFill>
                <a:latin typeface="Calibri"/>
              </a:rPr>
              <a:t>MinHash</a:t>
            </a:r>
          </a:p>
        </p:txBody>
      </p:sp>
      <p:sp>
        <p:nvSpPr>
          <p:cNvPr id="9" name="Rounded Rectangle 8"/>
          <p:cNvSpPr/>
          <p:nvPr/>
        </p:nvSpPr>
        <p:spPr>
          <a:xfrm>
            <a:off x="3017520" y="5440680"/>
            <a:ext cx="900684" cy="457200"/>
          </a:xfrm>
          <a:prstGeom prst="roundRect">
            <a:avLst>
              <a:gd name="adj" fmla="val 8000"/>
            </a:avLst>
          </a:prstGeom>
          <a:solidFill>
            <a:srgbClr val="FBE5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C00000"/>
                </a:solidFill>
                <a:latin typeface="Calibri"/>
              </a:rPr>
              <a:t>Jaccard</a:t>
            </a:r>
          </a:p>
        </p:txBody>
      </p:sp>
      <p:sp>
        <p:nvSpPr>
          <p:cNvPr id="10" name="Rounded Rectangle 9"/>
          <p:cNvSpPr/>
          <p:nvPr/>
        </p:nvSpPr>
        <p:spPr>
          <a:xfrm>
            <a:off x="4027931" y="5440680"/>
            <a:ext cx="1161288" cy="457200"/>
          </a:xfrm>
          <a:prstGeom prst="roundRect">
            <a:avLst>
              <a:gd name="adj" fmla="val 8000"/>
            </a:avLst>
          </a:prstGeom>
          <a:solidFill>
            <a:srgbClr val="FBE5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C00000"/>
                </a:solidFill>
                <a:latin typeface="Calibri"/>
              </a:rPr>
              <a:t>Union-Find</a:t>
            </a:r>
          </a:p>
        </p:txBody>
      </p:sp>
      <p:sp>
        <p:nvSpPr>
          <p:cNvPr id="11" name="Rounded Rectangle 10"/>
          <p:cNvSpPr/>
          <p:nvPr/>
        </p:nvSpPr>
        <p:spPr>
          <a:xfrm>
            <a:off x="5298948" y="5440680"/>
            <a:ext cx="987552" cy="457200"/>
          </a:xfrm>
          <a:prstGeom prst="roundRect">
            <a:avLst>
              <a:gd name="adj" fmla="val 8000"/>
            </a:avLst>
          </a:prstGeom>
          <a:solidFill>
            <a:srgbClr val="FBE5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C00000"/>
                </a:solidFill>
                <a:latin typeface="Calibri"/>
              </a:rPr>
              <a:t>Max Heap</a:t>
            </a:r>
          </a:p>
        </p:txBody>
      </p:sp>
      <p:sp>
        <p:nvSpPr>
          <p:cNvPr id="12" name="Rounded Rectangle 11"/>
          <p:cNvSpPr/>
          <p:nvPr/>
        </p:nvSpPr>
        <p:spPr>
          <a:xfrm>
            <a:off x="6396228" y="5440680"/>
            <a:ext cx="640080" cy="457200"/>
          </a:xfrm>
          <a:prstGeom prst="roundRect">
            <a:avLst>
              <a:gd name="adj" fmla="val 8000"/>
            </a:avLst>
          </a:prstGeom>
          <a:solidFill>
            <a:srgbClr val="FBE5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C00000"/>
                </a:solidFill>
                <a:latin typeface="Calibri"/>
              </a:rPr>
              <a:t>Trie</a:t>
            </a:r>
          </a:p>
        </p:txBody>
      </p:sp>
      <p:sp>
        <p:nvSpPr>
          <p:cNvPr id="13" name="Rounded Rectangle 12"/>
          <p:cNvSpPr/>
          <p:nvPr/>
        </p:nvSpPr>
        <p:spPr>
          <a:xfrm>
            <a:off x="7146036" y="5440680"/>
            <a:ext cx="553212" cy="457200"/>
          </a:xfrm>
          <a:prstGeom prst="roundRect">
            <a:avLst>
              <a:gd name="adj" fmla="val 8000"/>
            </a:avLst>
          </a:prstGeom>
          <a:solidFill>
            <a:srgbClr val="FBE5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C00000"/>
                </a:solidFill>
                <a:latin typeface="Calibri"/>
              </a:rPr>
              <a:t>KMP</a:t>
            </a:r>
          </a:p>
        </p:txBody>
      </p:sp>
      <p:sp>
        <p:nvSpPr>
          <p:cNvPr id="14" name="Rounded Rectangle 13"/>
          <p:cNvSpPr/>
          <p:nvPr/>
        </p:nvSpPr>
        <p:spPr>
          <a:xfrm>
            <a:off x="7808976" y="5440680"/>
            <a:ext cx="1248156" cy="457200"/>
          </a:xfrm>
          <a:prstGeom prst="roundRect">
            <a:avLst>
              <a:gd name="adj" fmla="val 8000"/>
            </a:avLst>
          </a:prstGeom>
          <a:solidFill>
            <a:srgbClr val="FBE5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C00000"/>
                </a:solidFill>
                <a:latin typeface="Calibri"/>
              </a:rPr>
              <a:t>Knapsack DP</a:t>
            </a:r>
          </a:p>
        </p:txBody>
      </p:sp>
      <p:sp>
        <p:nvSpPr>
          <p:cNvPr id="15" name="Rounded Rectangle 14"/>
          <p:cNvSpPr/>
          <p:nvPr/>
        </p:nvSpPr>
        <p:spPr>
          <a:xfrm>
            <a:off x="9166860" y="5440680"/>
            <a:ext cx="987552" cy="457200"/>
          </a:xfrm>
          <a:prstGeom prst="roundRect">
            <a:avLst>
              <a:gd name="adj" fmla="val 8000"/>
            </a:avLst>
          </a:prstGeom>
          <a:solidFill>
            <a:srgbClr val="FBE5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C00000"/>
                </a:solidFill>
                <a:latin typeface="Calibri"/>
              </a:rPr>
              <a:t>Max Flow</a:t>
            </a:r>
          </a:p>
        </p:txBody>
      </p:sp>
      <p:sp>
        <p:nvSpPr>
          <p:cNvPr id="16" name="Rounded Rectangle 15"/>
          <p:cNvSpPr/>
          <p:nvPr/>
        </p:nvSpPr>
        <p:spPr>
          <a:xfrm>
            <a:off x="10264140" y="5440680"/>
            <a:ext cx="1074420" cy="457200"/>
          </a:xfrm>
          <a:prstGeom prst="roundRect">
            <a:avLst>
              <a:gd name="adj" fmla="val 8000"/>
            </a:avLst>
          </a:prstGeom>
          <a:solidFill>
            <a:srgbClr val="FBE5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solidFill>
                  <a:srgbClr val="C00000"/>
                </a:solidFill>
                <a:latin typeface="Calibri"/>
              </a:rPr>
              <a:t>Set Cover</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901440" y="219456"/>
            <a:ext cx="4389120" cy="566928"/>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600" b="1">
                <a:solidFill>
                  <a:srgbClr val="FFFFFF"/>
                </a:solidFill>
                <a:latin typeface="Calibri"/>
              </a:rPr>
              <a:t>Introduction</a:t>
            </a:r>
            <a:endParaRPr lang="en-US"/>
          </a:p>
        </p:txBody>
      </p:sp>
      <p:sp>
        <p:nvSpPr>
          <p:cNvPr id="3" name="Rounded Rectangle 2"/>
          <p:cNvSpPr/>
          <p:nvPr/>
        </p:nvSpPr>
        <p:spPr>
          <a:xfrm>
            <a:off x="640080" y="1097280"/>
            <a:ext cx="5943600" cy="50749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1280160"/>
            <a:ext cx="5486400" cy="4754880"/>
          </a:xfrm>
          <a:prstGeom prst="rect">
            <a:avLst/>
          </a:prstGeom>
          <a:noFill/>
        </p:spPr>
        <p:txBody>
          <a:bodyPr wrap="square" lIns="0" rIns="0" tIns="0" bIns="0" anchor="t">
            <a:spAutoFit/>
          </a:bodyPr>
          <a:lstStyle/>
          <a:p>
            <a:pPr algn="l">
              <a:spcAft>
                <a:spcPts val="700"/>
              </a:spcAft>
            </a:pPr>
            <a:r>
              <a:rPr sz="1800" b="1" i="0">
                <a:solidFill>
                  <a:srgbClr val="C00000"/>
                </a:solidFill>
                <a:latin typeface="Calibri"/>
              </a:rPr>
              <a:t>What happens in newsrooms today</a:t>
            </a:r>
          </a:p>
          <a:p>
            <a:pPr algn="l" marL="256032" indent="-256032">
              <a:spcAft>
                <a:spcPts val="700"/>
              </a:spcAft>
              <a:buClr>
                <a:srgbClr val="C00000"/>
              </a:buClr>
              <a:buFont typeface="Arial"/>
              <a:buChar char="•"/>
            </a:pPr>
            <a:r>
              <a:rPr sz="1600" b="0" i="0">
                <a:solidFill>
                  <a:srgbClr val="262626"/>
                </a:solidFill>
                <a:latin typeface="Calibri"/>
              </a:rPr>
              <a:t>Wire services like Reuters, AP and PTI, and many other publishers, report the same event within minutes</a:t>
            </a:r>
          </a:p>
          <a:p>
            <a:pPr algn="l" marL="256032" indent="-256032">
              <a:spcAft>
                <a:spcPts val="700"/>
              </a:spcAft>
              <a:buClr>
                <a:srgbClr val="C00000"/>
              </a:buClr>
              <a:buFont typeface="Arial"/>
              <a:buChar char="•"/>
            </a:pPr>
            <a:r>
              <a:rPr sz="1600" b="0" i="0">
                <a:solidFill>
                  <a:srgbClr val="262626"/>
                </a:solidFill>
                <a:latin typeface="Calibri"/>
              </a:rPr>
              <a:t>Syndicated copies with tiny edits flood the feed</a:t>
            </a:r>
          </a:p>
          <a:p>
            <a:pPr algn="l" marL="256032" indent="-256032">
              <a:spcAft>
                <a:spcPts val="700"/>
              </a:spcAft>
              <a:buClr>
                <a:srgbClr val="C00000"/>
              </a:buClr>
              <a:buFont typeface="Arial"/>
              <a:buChar char="•"/>
            </a:pPr>
            <a:r>
              <a:rPr sz="1600" b="0" i="0">
                <a:solidFill>
                  <a:srgbClr val="262626"/>
                </a:solidFill>
                <a:latin typeface="Calibri"/>
              </a:rPr>
              <a:t>Exact matching of headlines or URLs misses reworded copies, and comparing every pair of full texts is too slow</a:t>
            </a:r>
          </a:p>
          <a:p>
            <a:pPr algn="l">
              <a:spcAft>
                <a:spcPts val="700"/>
              </a:spcAft>
            </a:pPr>
            <a:r>
              <a:rPr sz="1800" b="1" i="0">
                <a:solidFill>
                  <a:srgbClr val="C00000"/>
                </a:solidFill>
                <a:latin typeface="Calibri"/>
              </a:rPr>
              <a:t>Our approach</a:t>
            </a:r>
          </a:p>
          <a:p>
            <a:pPr algn="l" marL="256032" indent="-256032">
              <a:spcAft>
                <a:spcPts val="700"/>
              </a:spcAft>
              <a:buClr>
                <a:srgbClr val="C00000"/>
              </a:buClr>
              <a:buFont typeface="Arial"/>
              <a:buChar char="•"/>
            </a:pPr>
            <a:r>
              <a:rPr sz="1600" b="0" i="0">
                <a:solidFill>
                  <a:srgbClr val="262626"/>
                </a:solidFill>
                <a:latin typeface="Calibri"/>
              </a:rPr>
              <a:t>Make compact fingerprints of each article using hashing</a:t>
            </a:r>
          </a:p>
          <a:p>
            <a:pPr algn="l" marL="256032" indent="-256032">
              <a:spcAft>
                <a:spcPts val="700"/>
              </a:spcAft>
              <a:buClr>
                <a:srgbClr val="C00000"/>
              </a:buClr>
              <a:buFont typeface="Arial"/>
              <a:buChar char="•"/>
            </a:pPr>
            <a:r>
              <a:rPr sz="1600" b="0" i="0">
                <a:solidFill>
                  <a:srgbClr val="262626"/>
                </a:solidFill>
                <a:latin typeface="Calibri"/>
              </a:rPr>
              <a:t>Group similar articles into one story using Union-Find</a:t>
            </a:r>
          </a:p>
          <a:p>
            <a:pPr algn="l" marL="256032" indent="-256032">
              <a:spcAft>
                <a:spcPts val="700"/>
              </a:spcAft>
              <a:buClr>
                <a:srgbClr val="C00000"/>
              </a:buClr>
              <a:buFont typeface="Arial"/>
              <a:buChar char="•"/>
            </a:pPr>
            <a:r>
              <a:rPr sz="1600" b="0" i="0">
                <a:solidFill>
                  <a:srgbClr val="262626"/>
                </a:solidFill>
                <a:latin typeface="Calibri"/>
              </a:rPr>
              <a:t>Rank, search and plan stories on a simple web dashboard</a:t>
            </a:r>
          </a:p>
        </p:txBody>
      </p:sp>
      <p:sp>
        <p:nvSpPr>
          <p:cNvPr id="5" name="Rounded Rectangle 4"/>
          <p:cNvSpPr/>
          <p:nvPr/>
        </p:nvSpPr>
        <p:spPr>
          <a:xfrm>
            <a:off x="6858000" y="1280160"/>
            <a:ext cx="2377440" cy="9144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solidFill>
                  <a:srgbClr val="C00000"/>
                </a:solidFill>
                <a:latin typeface="Calibri"/>
              </a:rPr>
              <a:t>Reuters Wire</a:t>
            </a:r>
          </a:p>
          <a:p>
            <a:pPr algn="l"/>
            <a:r>
              <a:rPr sz="1200" b="0" i="0">
                <a:solidFill>
                  <a:srgbClr val="262626"/>
                </a:solidFill>
                <a:latin typeface="Calibri"/>
              </a:rPr>
              <a:t>EU lawmakers advance AI regulation</a:t>
            </a:r>
          </a:p>
        </p:txBody>
      </p:sp>
      <p:cxnSp>
        <p:nvCxnSpPr>
          <p:cNvPr id="6" name="Connector 5"/>
          <p:cNvCxnSpPr/>
          <p:nvPr/>
        </p:nvCxnSpPr>
        <p:spPr>
          <a:xfrm>
            <a:off x="9281160" y="1737360"/>
            <a:ext cx="548640" cy="160020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858000" y="2423160"/>
            <a:ext cx="2377440" cy="9144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solidFill>
                  <a:srgbClr val="C00000"/>
                </a:solidFill>
                <a:latin typeface="Calibri"/>
              </a:rPr>
              <a:t>Financial Times</a:t>
            </a:r>
          </a:p>
          <a:p>
            <a:pPr algn="l"/>
            <a:r>
              <a:rPr sz="1200" b="0" i="0">
                <a:solidFill>
                  <a:srgbClr val="262626"/>
                </a:solidFill>
                <a:latin typeface="Calibri"/>
              </a:rPr>
              <a:t>Brussels sets AI compliance deadline</a:t>
            </a:r>
          </a:p>
        </p:txBody>
      </p:sp>
      <p:cxnSp>
        <p:nvCxnSpPr>
          <p:cNvPr id="8" name="Connector 7"/>
          <p:cNvCxnSpPr/>
          <p:nvPr/>
        </p:nvCxnSpPr>
        <p:spPr>
          <a:xfrm>
            <a:off x="9281160" y="2880360"/>
            <a:ext cx="548640" cy="45720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858000" y="3566160"/>
            <a:ext cx="2377440" cy="9144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solidFill>
                  <a:srgbClr val="C00000"/>
                </a:solidFill>
                <a:latin typeface="Calibri"/>
              </a:rPr>
              <a:t>Politico Europe</a:t>
            </a:r>
          </a:p>
          <a:p>
            <a:pPr algn="l"/>
            <a:r>
              <a:rPr sz="1200" b="0" i="0">
                <a:solidFill>
                  <a:srgbClr val="262626"/>
                </a:solidFill>
                <a:latin typeface="Calibri"/>
              </a:rPr>
              <a:t>AI oversight board named</a:t>
            </a:r>
          </a:p>
        </p:txBody>
      </p:sp>
      <p:cxnSp>
        <p:nvCxnSpPr>
          <p:cNvPr id="10" name="Connector 9"/>
          <p:cNvCxnSpPr/>
          <p:nvPr/>
        </p:nvCxnSpPr>
        <p:spPr>
          <a:xfrm flipV="1">
            <a:off x="9281160" y="3337560"/>
            <a:ext cx="548640" cy="68580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858000" y="4709160"/>
            <a:ext cx="2377440" cy="9144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solidFill>
                  <a:srgbClr val="C00000"/>
                </a:solidFill>
                <a:latin typeface="Calibri"/>
              </a:rPr>
              <a:t>Euronews</a:t>
            </a:r>
          </a:p>
          <a:p>
            <a:pPr algn="l"/>
            <a:r>
              <a:rPr sz="1200" b="0" i="0">
                <a:solidFill>
                  <a:srgbClr val="262626"/>
                </a:solidFill>
                <a:latin typeface="Calibri"/>
              </a:rPr>
              <a:t>EU lawmakers advance AI regulation</a:t>
            </a:r>
          </a:p>
        </p:txBody>
      </p:sp>
      <p:cxnSp>
        <p:nvCxnSpPr>
          <p:cNvPr id="12" name="Connector 11"/>
          <p:cNvCxnSpPr/>
          <p:nvPr/>
        </p:nvCxnSpPr>
        <p:spPr>
          <a:xfrm flipV="1">
            <a:off x="9281160" y="3337560"/>
            <a:ext cx="548640" cy="182880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875520" y="2377440"/>
            <a:ext cx="1783080" cy="192024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i="0">
                <a:solidFill>
                  <a:srgbClr val="FFFFFF"/>
                </a:solidFill>
                <a:latin typeface="Calibri"/>
              </a:rPr>
              <a:t>1 STORY</a:t>
            </a:r>
          </a:p>
          <a:p>
            <a:pPr algn="ctr"/>
            <a:r>
              <a:rPr sz="1600" b="1" i="0">
                <a:solidFill>
                  <a:srgbClr val="FFFFFF"/>
                </a:solidFill>
                <a:latin typeface="Calibri"/>
              </a:rPr>
              <a:t>EU AI regulation</a:t>
            </a:r>
          </a:p>
          <a:p>
            <a:pPr algn="ctr"/>
            <a:r>
              <a:rPr sz="1200" b="0" i="0">
                <a:solidFill>
                  <a:srgbClr val="FFFFFF"/>
                </a:solidFill>
                <a:latin typeface="Calibri"/>
              </a:rPr>
              <a:t>4 sources</a:t>
            </a:r>
          </a:p>
          <a:p>
            <a:pPr algn="ctr"/>
            <a:r>
              <a:rPr sz="1200" b="0" i="0">
                <a:solidFill>
                  <a:srgbClr val="FFFFFF"/>
                </a:solidFill>
                <a:latin typeface="Calibri"/>
              </a:rPr>
              <a:t>1 duplicate</a:t>
            </a:r>
          </a:p>
        </p:txBody>
      </p:sp>
      <p:sp>
        <p:nvSpPr>
          <p:cNvPr id="14" name="TextBox 13"/>
          <p:cNvSpPr txBox="1"/>
          <p:nvPr/>
        </p:nvSpPr>
        <p:spPr>
          <a:xfrm>
            <a:off x="6858000" y="5897880"/>
            <a:ext cx="4754880" cy="274320"/>
          </a:xfrm>
          <a:prstGeom prst="rect">
            <a:avLst/>
          </a:prstGeom>
          <a:noFill/>
        </p:spPr>
        <p:txBody>
          <a:bodyPr wrap="square" lIns="0" rIns="0" tIns="0" bIns="0" anchor="t">
            <a:spAutoFit/>
          </a:bodyPr>
          <a:lstStyle/>
          <a:p>
            <a:pPr algn="l">
              <a:spcAft>
                <a:spcPts val="600"/>
              </a:spcAft>
            </a:pPr>
            <a:r>
              <a:rPr sz="1200" b="0" i="1">
                <a:solidFill>
                  <a:srgbClr val="595959"/>
                </a:solidFill>
                <a:latin typeface="Calibri"/>
              </a:rPr>
              <a:t>Real example from our sample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901440" y="219456"/>
            <a:ext cx="4389120" cy="566928"/>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600" b="1">
                <a:solidFill>
                  <a:srgbClr val="FFFFFF"/>
                </a:solidFill>
                <a:latin typeface="Calibri"/>
              </a:rPr>
              <a:t>Literature Survey</a:t>
            </a:r>
            <a:endParaRPr lang="en-US"/>
          </a:p>
        </p:txBody>
      </p:sp>
      <p:graphicFrame>
        <p:nvGraphicFramePr>
          <p:cNvPr id="3" name="Table 2"/>
          <p:cNvGraphicFramePr>
            <a:graphicFrameLocks noGrp="1"/>
          </p:cNvGraphicFramePr>
          <p:nvPr/>
        </p:nvGraphicFramePr>
        <p:xfrm>
          <a:off x="640080" y="1143000"/>
          <a:ext cx="10908792" cy="4828032"/>
        </p:xfrm>
        <a:graphic>
          <a:graphicData uri="http://schemas.openxmlformats.org/drawingml/2006/table">
            <a:tbl>
              <a:tblPr firstRow="0" bandRow="0"/>
              <a:tblGrid>
                <a:gridCol w="3931920"/>
                <a:gridCol w="3657600"/>
                <a:gridCol w="3319272"/>
              </a:tblGrid>
              <a:tr h="804672">
                <a:tc>
                  <a:txBody>
                    <a:bodyPr wrap="square"/>
                    <a:lstStyle/>
                    <a:p>
                      <a:r>
                        <a:rPr sz="1300" b="1">
                          <a:solidFill>
                            <a:srgbClr val="FFFFFF"/>
                          </a:solidFill>
                          <a:latin typeface="Calibri"/>
                        </a:rPr>
                        <a:t>Reference</a:t>
                      </a:r>
                    </a:p>
                  </a:txBody>
                  <a:tcPr marL="91440" marR="91440" marT="27432" marB="27432" anchor="ctr">
                    <a:solidFill>
                      <a:srgbClr val="C00000"/>
                    </a:solidFill>
                  </a:tcPr>
                </a:tc>
                <a:tc>
                  <a:txBody>
                    <a:bodyPr wrap="square"/>
                    <a:lstStyle/>
                    <a:p>
                      <a:r>
                        <a:rPr sz="1300" b="1">
                          <a:solidFill>
                            <a:srgbClr val="FFFFFF"/>
                          </a:solidFill>
                          <a:latin typeface="Calibri"/>
                        </a:rPr>
                        <a:t>Key idea</a:t>
                      </a:r>
                    </a:p>
                  </a:txBody>
                  <a:tcPr marL="91440" marR="91440" marT="27432" marB="27432" anchor="ctr">
                    <a:solidFill>
                      <a:srgbClr val="C00000"/>
                    </a:solidFill>
                  </a:tcPr>
                </a:tc>
                <a:tc>
                  <a:txBody>
                    <a:bodyPr wrap="square"/>
                    <a:lstStyle/>
                    <a:p>
                      <a:r>
                        <a:rPr sz="1300" b="1">
                          <a:solidFill>
                            <a:srgbClr val="FFFFFF"/>
                          </a:solidFill>
                          <a:latin typeface="Calibri"/>
                        </a:rPr>
                        <a:t>How we use it</a:t>
                      </a:r>
                    </a:p>
                  </a:txBody>
                  <a:tcPr marL="91440" marR="91440" marT="27432" marB="27432" anchor="ctr">
                    <a:solidFill>
                      <a:srgbClr val="C00000"/>
                    </a:solidFill>
                  </a:tcPr>
                </a:tc>
              </a:tr>
              <a:tr h="804672">
                <a:tc>
                  <a:txBody>
                    <a:bodyPr wrap="square"/>
                    <a:lstStyle/>
                    <a:p>
                      <a:r>
                        <a:rPr sz="1300" b="1">
                          <a:solidFill>
                            <a:srgbClr val="262626"/>
                          </a:solidFill>
                          <a:latin typeface="Calibri"/>
                        </a:rPr>
                        <a:t>A. Z. Broder (1997), On the resemblance and containment of documents</a:t>
                      </a:r>
                    </a:p>
                  </a:txBody>
                  <a:tcPr marL="91440" marR="91440" marT="27432" marB="27432" anchor="ctr">
                    <a:solidFill>
                      <a:srgbClr val="F2F2F2"/>
                    </a:solidFill>
                  </a:tcPr>
                </a:tc>
                <a:tc>
                  <a:txBody>
                    <a:bodyPr wrap="square"/>
                    <a:lstStyle/>
                    <a:p>
                      <a:r>
                        <a:rPr sz="1300" b="0">
                          <a:solidFill>
                            <a:srgbClr val="262626"/>
                          </a:solidFill>
                          <a:latin typeface="Calibri"/>
                        </a:rPr>
                        <a:t>Shingles + Jaccard resemblance; min-wise hashing to estimate it cheaply</a:t>
                      </a:r>
                    </a:p>
                  </a:txBody>
                  <a:tcPr marL="91440" marR="91440" marT="27432" marB="27432" anchor="ctr">
                    <a:solidFill>
                      <a:srgbClr val="F2F2F2"/>
                    </a:solidFill>
                  </a:tcPr>
                </a:tc>
                <a:tc>
                  <a:txBody>
                    <a:bodyPr wrap="square"/>
                    <a:lstStyle/>
                    <a:p>
                      <a:r>
                        <a:rPr sz="1300" b="0">
                          <a:solidFill>
                            <a:srgbClr val="262626"/>
                          </a:solidFill>
                          <a:latin typeface="Calibri"/>
                        </a:rPr>
                        <a:t>3-word shingles, Jaccard for duplicates, MinHash signatures</a:t>
                      </a:r>
                    </a:p>
                  </a:txBody>
                  <a:tcPr marL="91440" marR="91440" marT="27432" marB="27432" anchor="ctr">
                    <a:solidFill>
                      <a:srgbClr val="F2F2F2"/>
                    </a:solidFill>
                  </a:tcPr>
                </a:tc>
              </a:tr>
              <a:tr h="804672">
                <a:tc>
                  <a:txBody>
                    <a:bodyPr wrap="square"/>
                    <a:lstStyle/>
                    <a:p>
                      <a:r>
                        <a:rPr sz="1300" b="1">
                          <a:solidFill>
                            <a:srgbClr val="262626"/>
                          </a:solidFill>
                          <a:latin typeface="Calibri"/>
                        </a:rPr>
                        <a:t>M. S. Charikar (2002), Similarity estimation techniques from rounding algorithms</a:t>
                      </a:r>
                    </a:p>
                  </a:txBody>
                  <a:tcPr marL="91440" marR="91440" marT="27432" marB="27432" anchor="ctr">
                    <a:solidFill>
                      <a:srgbClr val="FFFFFF"/>
                    </a:solidFill>
                  </a:tcPr>
                </a:tc>
                <a:tc>
                  <a:txBody>
                    <a:bodyPr wrap="square"/>
                    <a:lstStyle/>
                    <a:p>
                      <a:r>
                        <a:rPr sz="1300" b="0">
                          <a:solidFill>
                            <a:srgbClr val="262626"/>
                          </a:solidFill>
                          <a:latin typeface="Calibri"/>
                        </a:rPr>
                        <a:t>SimHash: short fingerprints whose bit agreement estimates similarity</a:t>
                      </a:r>
                    </a:p>
                  </a:txBody>
                  <a:tcPr marL="91440" marR="91440" marT="27432" marB="27432" anchor="ctr">
                    <a:solidFill>
                      <a:srgbClr val="FFFFFF"/>
                    </a:solidFill>
                  </a:tcPr>
                </a:tc>
                <a:tc>
                  <a:txBody>
                    <a:bodyPr wrap="square"/>
                    <a:lstStyle/>
                    <a:p>
                      <a:r>
                        <a:rPr sz="1300" b="0">
                          <a:solidFill>
                            <a:srgbClr val="262626"/>
                          </a:solidFill>
                          <a:latin typeface="Calibri"/>
                        </a:rPr>
                        <a:t>Motivates compact fingerprints instead of full-text comparison</a:t>
                      </a:r>
                    </a:p>
                  </a:txBody>
                  <a:tcPr marL="91440" marR="91440" marT="27432" marB="27432" anchor="ctr">
                    <a:solidFill>
                      <a:srgbClr val="FFFFFF"/>
                    </a:solidFill>
                  </a:tcPr>
                </a:tc>
              </a:tr>
              <a:tr h="804672">
                <a:tc>
                  <a:txBody>
                    <a:bodyPr wrap="square"/>
                    <a:lstStyle/>
                    <a:p>
                      <a:r>
                        <a:rPr sz="1300" b="1">
                          <a:solidFill>
                            <a:srgbClr val="262626"/>
                          </a:solidFill>
                          <a:latin typeface="Calibri"/>
                        </a:rPr>
                        <a:t>M. Henzinger (2006), Finding near-duplicate web pages: a large-scale evaluation</a:t>
                      </a:r>
                    </a:p>
                  </a:txBody>
                  <a:tcPr marL="91440" marR="91440" marT="27432" marB="27432" anchor="ctr">
                    <a:solidFill>
                      <a:srgbClr val="F2F2F2"/>
                    </a:solidFill>
                  </a:tcPr>
                </a:tc>
                <a:tc>
                  <a:txBody>
                    <a:bodyPr wrap="square"/>
                    <a:lstStyle/>
                    <a:p>
                      <a:r>
                        <a:rPr sz="1300" b="0">
                          <a:solidFill>
                            <a:srgbClr val="262626"/>
                          </a:solidFill>
                          <a:latin typeface="Calibri"/>
                        </a:rPr>
                        <a:t>Compares Broder's shingling with Charikar's SimHash on billions of pages</a:t>
                      </a:r>
                    </a:p>
                  </a:txBody>
                  <a:tcPr marL="91440" marR="91440" marT="27432" marB="27432" anchor="ctr">
                    <a:solidFill>
                      <a:srgbClr val="F2F2F2"/>
                    </a:solidFill>
                  </a:tcPr>
                </a:tc>
                <a:tc>
                  <a:txBody>
                    <a:bodyPr wrap="square"/>
                    <a:lstStyle/>
                    <a:p>
                      <a:r>
                        <a:rPr sz="1300" b="0">
                          <a:solidFill>
                            <a:srgbClr val="262626"/>
                          </a:solidFill>
                          <a:latin typeface="Calibri"/>
                        </a:rPr>
                        <a:t>Supports shingling + hashing for near-duplicate detection</a:t>
                      </a:r>
                    </a:p>
                  </a:txBody>
                  <a:tcPr marL="91440" marR="91440" marT="27432" marB="27432" anchor="ctr">
                    <a:solidFill>
                      <a:srgbClr val="F2F2F2"/>
                    </a:solidFill>
                  </a:tcPr>
                </a:tc>
              </a:tr>
              <a:tr h="804672">
                <a:tc>
                  <a:txBody>
                    <a:bodyPr wrap="square"/>
                    <a:lstStyle/>
                    <a:p>
                      <a:r>
                        <a:rPr sz="1300" b="1">
                          <a:solidFill>
                            <a:srgbClr val="262626"/>
                          </a:solidFill>
                          <a:latin typeface="Calibri"/>
                        </a:rPr>
                        <a:t>A. Das et al. (2007), Google News personalization (WWW)</a:t>
                      </a:r>
                    </a:p>
                  </a:txBody>
                  <a:tcPr marL="91440" marR="91440" marT="27432" marB="27432" anchor="ctr">
                    <a:solidFill>
                      <a:srgbClr val="FFFFFF"/>
                    </a:solidFill>
                  </a:tcPr>
                </a:tc>
                <a:tc>
                  <a:txBody>
                    <a:bodyPr wrap="square"/>
                    <a:lstStyle/>
                    <a:p>
                      <a:r>
                        <a:rPr sz="1300" b="0">
                          <a:solidFill>
                            <a:srgbClr val="262626"/>
                          </a:solidFill>
                          <a:latin typeface="Calibri"/>
                        </a:rPr>
                        <a:t>Uses MinHash clustering (of users' click histories) at Google News scale</a:t>
                      </a:r>
                    </a:p>
                  </a:txBody>
                  <a:tcPr marL="91440" marR="91440" marT="27432" marB="27432" anchor="ctr">
                    <a:solidFill>
                      <a:srgbClr val="FFFFFF"/>
                    </a:solidFill>
                  </a:tcPr>
                </a:tc>
                <a:tc>
                  <a:txBody>
                    <a:bodyPr wrap="square"/>
                    <a:lstStyle/>
                    <a:p>
                      <a:r>
                        <a:rPr sz="1300" b="0">
                          <a:solidFill>
                            <a:srgbClr val="262626"/>
                          </a:solidFill>
                          <a:latin typeface="Calibri"/>
                        </a:rPr>
                        <a:t>Shows MinHash clustering is practical on a real news platform</a:t>
                      </a:r>
                    </a:p>
                  </a:txBody>
                  <a:tcPr marL="91440" marR="91440" marT="27432" marB="27432" anchor="ctr">
                    <a:solidFill>
                      <a:srgbClr val="FFFFFF"/>
                    </a:solidFill>
                  </a:tcPr>
                </a:tc>
              </a:tr>
              <a:tr h="804672">
                <a:tc>
                  <a:txBody>
                    <a:bodyPr wrap="square"/>
                    <a:lstStyle/>
                    <a:p>
                      <a:r>
                        <a:rPr sz="1300" b="1">
                          <a:solidFill>
                            <a:srgbClr val="262626"/>
                          </a:solidFill>
                          <a:latin typeface="Calibri"/>
                        </a:rPr>
                        <a:t>R. E. Tarjan (1975), Efficiency of a good but not linear set union algorithm</a:t>
                      </a:r>
                    </a:p>
                  </a:txBody>
                  <a:tcPr marL="91440" marR="91440" marT="27432" marB="27432" anchor="ctr">
                    <a:solidFill>
                      <a:srgbClr val="F2F2F2"/>
                    </a:solidFill>
                  </a:tcPr>
                </a:tc>
                <a:tc>
                  <a:txBody>
                    <a:bodyPr wrap="square"/>
                    <a:lstStyle/>
                    <a:p>
                      <a:r>
                        <a:rPr sz="1300" b="0">
                          <a:solidFill>
                            <a:srgbClr val="262626"/>
                          </a:solidFill>
                          <a:latin typeface="Calibri"/>
                        </a:rPr>
                        <a:t>Union-Find with path compression is nearly O(1) per operation</a:t>
                      </a:r>
                    </a:p>
                  </a:txBody>
                  <a:tcPr marL="91440" marR="91440" marT="27432" marB="27432" anchor="ctr">
                    <a:solidFill>
                      <a:srgbClr val="F2F2F2"/>
                    </a:solidFill>
                  </a:tcPr>
                </a:tc>
                <a:tc>
                  <a:txBody>
                    <a:bodyPr wrap="square"/>
                    <a:lstStyle/>
                    <a:p>
                      <a:r>
                        <a:rPr sz="1300" b="0">
                          <a:solidFill>
                            <a:srgbClr val="262626"/>
                          </a:solidFill>
                          <a:latin typeface="Calibri"/>
                        </a:rPr>
                        <a:t>Fast merging of similar articles into story clusters</a:t>
                      </a:r>
                    </a:p>
                  </a:txBody>
                  <a:tcPr marL="91440" marR="91440" marT="27432" marB="27432" anchor="ctr">
                    <a:solidFill>
                      <a:srgbClr val="F2F2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767584" y="219456"/>
            <a:ext cx="6656832" cy="566928"/>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600" b="1">
                <a:solidFill>
                  <a:srgbClr val="FFFFFF"/>
                </a:solidFill>
                <a:latin typeface="Calibri"/>
              </a:rPr>
              <a:t>Problem Statement and Objectives</a:t>
            </a:r>
            <a:endParaRPr lang="en-US"/>
          </a:p>
        </p:txBody>
      </p:sp>
      <p:sp>
        <p:nvSpPr>
          <p:cNvPr id="4" name="Rounded Rectangle 3"/>
          <p:cNvSpPr/>
          <p:nvPr/>
        </p:nvSpPr>
        <p:spPr>
          <a:xfrm>
            <a:off x="822960" y="1188720"/>
            <a:ext cx="5120640" cy="4892040"/>
          </a:xfrm>
          <a:prstGeom prst="roundRect">
            <a:avLst>
              <a:gd name="adj" fmla="val 8000"/>
            </a:avLst>
          </a:prstGeom>
          <a:solidFill>
            <a:srgbClr val="FB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97280" y="1371600"/>
            <a:ext cx="4572000" cy="4572000"/>
          </a:xfrm>
          <a:prstGeom prst="rect">
            <a:avLst/>
          </a:prstGeom>
          <a:noFill/>
        </p:spPr>
        <p:txBody>
          <a:bodyPr wrap="square" lIns="0" rIns="0" tIns="0" bIns="0" anchor="t">
            <a:spAutoFit/>
          </a:bodyPr>
          <a:lstStyle/>
          <a:p>
            <a:pPr algn="l">
              <a:spcAft>
                <a:spcPts val="1200"/>
              </a:spcAft>
            </a:pPr>
            <a:r>
              <a:rPr sz="2000" b="1" i="0">
                <a:solidFill>
                  <a:srgbClr val="C00000"/>
                </a:solidFill>
                <a:latin typeface="Calibri"/>
              </a:rPr>
              <a:t>Problem Statement</a:t>
            </a:r>
          </a:p>
          <a:p>
            <a:pPr algn="l" marL="256032" indent="-256032">
              <a:spcAft>
                <a:spcPts val="1200"/>
              </a:spcAft>
              <a:buClr>
                <a:srgbClr val="C00000"/>
              </a:buClr>
              <a:buFont typeface="Arial"/>
              <a:buChar char="•"/>
            </a:pPr>
            <a:r>
              <a:rPr sz="1700" b="0" i="0">
                <a:solidFill>
                  <a:srgbClr val="262626"/>
                </a:solidFill>
                <a:latin typeface="Calibri"/>
              </a:rPr>
              <a:t>Many publishers report the same event</a:t>
            </a:r>
          </a:p>
          <a:p>
            <a:pPr algn="l" marL="256032" indent="-256032">
              <a:spcAft>
                <a:spcPts val="1200"/>
              </a:spcAft>
              <a:buClr>
                <a:srgbClr val="C00000"/>
              </a:buClr>
              <a:buFont typeface="Arial"/>
              <a:buChar char="•"/>
            </a:pPr>
            <a:r>
              <a:rPr sz="1700" b="0" i="0">
                <a:solidFill>
                  <a:srgbClr val="262626"/>
                </a:solidFill>
                <a:latin typeface="Calibri"/>
              </a:rPr>
              <a:t>Duplicate articles appear in the feed</a:t>
            </a:r>
          </a:p>
          <a:p>
            <a:pPr algn="l" marL="256032" indent="-256032">
              <a:spcAft>
                <a:spcPts val="1200"/>
              </a:spcAft>
              <a:buClr>
                <a:srgbClr val="C00000"/>
              </a:buClr>
              <a:buFont typeface="Arial"/>
              <a:buChar char="•"/>
            </a:pPr>
            <a:r>
              <a:rPr sz="1700" b="0" i="0">
                <a:solidFill>
                  <a:srgbClr val="262626"/>
                </a:solidFill>
                <a:latin typeface="Calibri"/>
              </a:rPr>
              <a:t>Editors group articles manually</a:t>
            </a:r>
          </a:p>
          <a:p>
            <a:pPr algn="l" marL="256032" indent="-256032">
              <a:spcAft>
                <a:spcPts val="1200"/>
              </a:spcAft>
              <a:buClr>
                <a:srgbClr val="C00000"/>
              </a:buClr>
              <a:buFont typeface="Arial"/>
              <a:buChar char="•"/>
            </a:pPr>
            <a:r>
              <a:rPr sz="1700" b="0" i="0">
                <a:solidFill>
                  <a:srgbClr val="262626"/>
                </a:solidFill>
                <a:latin typeface="Calibri"/>
              </a:rPr>
              <a:t>Readers see the same news again and again</a:t>
            </a:r>
          </a:p>
          <a:p>
            <a:pPr algn="l" marL="256032" indent="-256032">
              <a:spcAft>
                <a:spcPts val="1200"/>
              </a:spcAft>
              <a:buClr>
                <a:srgbClr val="C00000"/>
              </a:buClr>
              <a:buFont typeface="Arial"/>
              <a:buChar char="•"/>
            </a:pPr>
            <a:r>
              <a:rPr sz="1700" b="0" i="0">
                <a:solidFill>
                  <a:srgbClr val="262626"/>
                </a:solidFill>
                <a:latin typeface="Calibri"/>
              </a:rPr>
              <a:t>Searching and ranking stories becomes difficult</a:t>
            </a:r>
          </a:p>
        </p:txBody>
      </p:sp>
      <p:sp>
        <p:nvSpPr>
          <p:cNvPr id="6" name="TextBox 5"/>
          <p:cNvSpPr txBox="1"/>
          <p:nvPr/>
        </p:nvSpPr>
        <p:spPr>
          <a:xfrm>
            <a:off x="6400800" y="1280160"/>
            <a:ext cx="5029200" cy="457200"/>
          </a:xfrm>
          <a:prstGeom prst="rect">
            <a:avLst/>
          </a:prstGeom>
          <a:noFill/>
        </p:spPr>
        <p:txBody>
          <a:bodyPr wrap="square" lIns="0" rIns="0" tIns="0" bIns="0" anchor="t">
            <a:spAutoFit/>
          </a:bodyPr>
          <a:lstStyle/>
          <a:p>
            <a:pPr algn="l">
              <a:spcAft>
                <a:spcPts val="600"/>
              </a:spcAft>
            </a:pPr>
            <a:r>
              <a:rPr sz="2000" b="1" i="0">
                <a:solidFill>
                  <a:srgbClr val="C00000"/>
                </a:solidFill>
                <a:latin typeface="Calibri"/>
              </a:rPr>
              <a:t>Objectives</a:t>
            </a:r>
          </a:p>
        </p:txBody>
      </p:sp>
      <p:sp>
        <p:nvSpPr>
          <p:cNvPr id="7" name="Oval 6"/>
          <p:cNvSpPr/>
          <p:nvPr/>
        </p:nvSpPr>
        <p:spPr>
          <a:xfrm>
            <a:off x="6400800" y="1828800"/>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1</a:t>
            </a:r>
          </a:p>
        </p:txBody>
      </p:sp>
      <p:sp>
        <p:nvSpPr>
          <p:cNvPr id="8" name="TextBox 7"/>
          <p:cNvSpPr txBox="1"/>
          <p:nvPr/>
        </p:nvSpPr>
        <p:spPr>
          <a:xfrm>
            <a:off x="7086600" y="1828800"/>
            <a:ext cx="4389120" cy="502920"/>
          </a:xfrm>
          <a:prstGeom prst="rect">
            <a:avLst/>
          </a:prstGeom>
          <a:noFill/>
        </p:spPr>
        <p:txBody>
          <a:bodyPr wrap="square" lIns="0" rIns="0" tIns="0" bIns="0" anchor="ctr">
            <a:spAutoFit/>
          </a:bodyPr>
          <a:lstStyle/>
          <a:p>
            <a:pPr algn="l">
              <a:spcAft>
                <a:spcPts val="600"/>
              </a:spcAft>
            </a:pPr>
            <a:r>
              <a:rPr sz="1600" b="0" i="0">
                <a:solidFill>
                  <a:srgbClr val="262626"/>
                </a:solidFill>
                <a:latin typeface="Calibri"/>
              </a:rPr>
              <a:t>Automatically group similar articles</a:t>
            </a:r>
          </a:p>
        </p:txBody>
      </p:sp>
      <p:sp>
        <p:nvSpPr>
          <p:cNvPr id="9" name="Oval 8"/>
          <p:cNvSpPr/>
          <p:nvPr/>
        </p:nvSpPr>
        <p:spPr>
          <a:xfrm>
            <a:off x="6400800" y="2532888"/>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2</a:t>
            </a:r>
          </a:p>
        </p:txBody>
      </p:sp>
      <p:sp>
        <p:nvSpPr>
          <p:cNvPr id="10" name="TextBox 9"/>
          <p:cNvSpPr txBox="1"/>
          <p:nvPr/>
        </p:nvSpPr>
        <p:spPr>
          <a:xfrm>
            <a:off x="7086600" y="2532888"/>
            <a:ext cx="4389120" cy="502920"/>
          </a:xfrm>
          <a:prstGeom prst="rect">
            <a:avLst/>
          </a:prstGeom>
          <a:noFill/>
        </p:spPr>
        <p:txBody>
          <a:bodyPr wrap="square" lIns="0" rIns="0" tIns="0" bIns="0" anchor="ctr">
            <a:spAutoFit/>
          </a:bodyPr>
          <a:lstStyle/>
          <a:p>
            <a:pPr algn="l">
              <a:spcAft>
                <a:spcPts val="600"/>
              </a:spcAft>
            </a:pPr>
            <a:r>
              <a:rPr sz="1600" b="0" i="0">
                <a:solidFill>
                  <a:srgbClr val="262626"/>
                </a:solidFill>
                <a:latin typeface="Calibri"/>
              </a:rPr>
              <a:t>Detect near-duplicate news copies</a:t>
            </a:r>
          </a:p>
        </p:txBody>
      </p:sp>
      <p:sp>
        <p:nvSpPr>
          <p:cNvPr id="11" name="Oval 10"/>
          <p:cNvSpPr/>
          <p:nvPr/>
        </p:nvSpPr>
        <p:spPr>
          <a:xfrm>
            <a:off x="6400800" y="3236976"/>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3</a:t>
            </a:r>
          </a:p>
        </p:txBody>
      </p:sp>
      <p:sp>
        <p:nvSpPr>
          <p:cNvPr id="12" name="TextBox 11"/>
          <p:cNvSpPr txBox="1"/>
          <p:nvPr/>
        </p:nvSpPr>
        <p:spPr>
          <a:xfrm>
            <a:off x="7086600" y="3236976"/>
            <a:ext cx="4389120" cy="502920"/>
          </a:xfrm>
          <a:prstGeom prst="rect">
            <a:avLst/>
          </a:prstGeom>
          <a:noFill/>
        </p:spPr>
        <p:txBody>
          <a:bodyPr wrap="square" lIns="0" rIns="0" tIns="0" bIns="0" anchor="ctr">
            <a:spAutoFit/>
          </a:bodyPr>
          <a:lstStyle/>
          <a:p>
            <a:pPr algn="l">
              <a:spcAft>
                <a:spcPts val="600"/>
              </a:spcAft>
            </a:pPr>
            <a:r>
              <a:rPr sz="1600" b="0" i="0">
                <a:solidFill>
                  <a:srgbClr val="262626"/>
                </a:solidFill>
                <a:latin typeface="Calibri"/>
              </a:rPr>
              <a:t>Select a lead article for each story</a:t>
            </a:r>
          </a:p>
        </p:txBody>
      </p:sp>
      <p:sp>
        <p:nvSpPr>
          <p:cNvPr id="13" name="Oval 12"/>
          <p:cNvSpPr/>
          <p:nvPr/>
        </p:nvSpPr>
        <p:spPr>
          <a:xfrm>
            <a:off x="6400800" y="3941064"/>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4</a:t>
            </a:r>
          </a:p>
        </p:txBody>
      </p:sp>
      <p:sp>
        <p:nvSpPr>
          <p:cNvPr id="14" name="TextBox 13"/>
          <p:cNvSpPr txBox="1"/>
          <p:nvPr/>
        </p:nvSpPr>
        <p:spPr>
          <a:xfrm>
            <a:off x="7086600" y="3941064"/>
            <a:ext cx="4389120" cy="502920"/>
          </a:xfrm>
          <a:prstGeom prst="rect">
            <a:avLst/>
          </a:prstGeom>
          <a:noFill/>
        </p:spPr>
        <p:txBody>
          <a:bodyPr wrap="square" lIns="0" rIns="0" tIns="0" bIns="0" anchor="ctr">
            <a:spAutoFit/>
          </a:bodyPr>
          <a:lstStyle/>
          <a:p>
            <a:pPr algn="l">
              <a:spcAft>
                <a:spcPts val="600"/>
              </a:spcAft>
            </a:pPr>
            <a:r>
              <a:rPr sz="1600" b="0" i="0">
                <a:solidFill>
                  <a:srgbClr val="262626"/>
                </a:solidFill>
                <a:latin typeface="Calibri"/>
              </a:rPr>
              <a:t>Rank stories by priority, reach or date</a:t>
            </a:r>
          </a:p>
        </p:txBody>
      </p:sp>
      <p:sp>
        <p:nvSpPr>
          <p:cNvPr id="15" name="Oval 14"/>
          <p:cNvSpPr/>
          <p:nvPr/>
        </p:nvSpPr>
        <p:spPr>
          <a:xfrm>
            <a:off x="6400800" y="4645152"/>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5</a:t>
            </a:r>
          </a:p>
        </p:txBody>
      </p:sp>
      <p:sp>
        <p:nvSpPr>
          <p:cNvPr id="16" name="TextBox 15"/>
          <p:cNvSpPr txBox="1"/>
          <p:nvPr/>
        </p:nvSpPr>
        <p:spPr>
          <a:xfrm>
            <a:off x="7086600" y="4645152"/>
            <a:ext cx="4389120" cy="502920"/>
          </a:xfrm>
          <a:prstGeom prst="rect">
            <a:avLst/>
          </a:prstGeom>
          <a:noFill/>
        </p:spPr>
        <p:txBody>
          <a:bodyPr wrap="square" lIns="0" rIns="0" tIns="0" bIns="0" anchor="ctr">
            <a:spAutoFit/>
          </a:bodyPr>
          <a:lstStyle/>
          <a:p>
            <a:pPr algn="l">
              <a:spcAft>
                <a:spcPts val="600"/>
              </a:spcAft>
            </a:pPr>
            <a:r>
              <a:rPr sz="1600" b="0" i="0">
                <a:solidFill>
                  <a:srgbClr val="262626"/>
                </a:solidFill>
                <a:latin typeface="Calibri"/>
              </a:rPr>
              <a:t>Provide search and a dashboard</a:t>
            </a:r>
          </a:p>
        </p:txBody>
      </p:sp>
      <p:sp>
        <p:nvSpPr>
          <p:cNvPr id="17" name="Oval 16"/>
          <p:cNvSpPr/>
          <p:nvPr/>
        </p:nvSpPr>
        <p:spPr>
          <a:xfrm>
            <a:off x="6400800" y="5349240"/>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6</a:t>
            </a:r>
          </a:p>
        </p:txBody>
      </p:sp>
      <p:sp>
        <p:nvSpPr>
          <p:cNvPr id="18" name="TextBox 17"/>
          <p:cNvSpPr txBox="1"/>
          <p:nvPr/>
        </p:nvSpPr>
        <p:spPr>
          <a:xfrm>
            <a:off x="7086600" y="5349240"/>
            <a:ext cx="4389120" cy="502920"/>
          </a:xfrm>
          <a:prstGeom prst="rect">
            <a:avLst/>
          </a:prstGeom>
          <a:noFill/>
        </p:spPr>
        <p:txBody>
          <a:bodyPr wrap="square" lIns="0" rIns="0" tIns="0" bIns="0" anchor="ctr">
            <a:spAutoFit/>
          </a:bodyPr>
          <a:lstStyle/>
          <a:p>
            <a:pPr algn="l">
              <a:spcAft>
                <a:spcPts val="600"/>
              </a:spcAft>
            </a:pPr>
            <a:r>
              <a:rPr sz="1600" b="0" i="0">
                <a:solidFill>
                  <a:srgbClr val="262626"/>
                </a:solidFill>
                <a:latin typeface="Calibri"/>
              </a:rPr>
              <a:t>Support front page planning and editor assignment</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2593848" y="219456"/>
            <a:ext cx="7004304" cy="566928"/>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600" b="1">
                <a:solidFill>
                  <a:srgbClr val="FFFFFF"/>
                </a:solidFill>
                <a:latin typeface="Calibri"/>
              </a:rPr>
              <a:t>Hardware and Software Requirements</a:t>
            </a:r>
            <a:endParaRPr lang="en-US"/>
          </a:p>
        </p:txBody>
      </p:sp>
      <p:sp>
        <p:nvSpPr>
          <p:cNvPr id="3" name="Rounded Rectangle 2"/>
          <p:cNvSpPr/>
          <p:nvPr/>
        </p:nvSpPr>
        <p:spPr>
          <a:xfrm>
            <a:off x="822960" y="1097280"/>
            <a:ext cx="5760720" cy="438912"/>
          </a:xfrm>
          <a:prstGeom prst="roundRect">
            <a:avLst>
              <a:gd name="adj" fmla="val 8000"/>
            </a:avLst>
          </a:prstGeom>
          <a:solidFill>
            <a:srgbClr val="FBE5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i="0">
                <a:solidFill>
                  <a:srgbClr val="C00000"/>
                </a:solidFill>
                <a:latin typeface="Calibri"/>
              </a:rPr>
              <a:t>Software (actual implementation)</a:t>
            </a:r>
          </a:p>
        </p:txBody>
      </p:sp>
      <p:graphicFrame>
        <p:nvGraphicFramePr>
          <p:cNvPr id="4" name="Table 3"/>
          <p:cNvGraphicFramePr>
            <a:graphicFrameLocks noGrp="1"/>
          </p:cNvGraphicFramePr>
          <p:nvPr/>
        </p:nvGraphicFramePr>
        <p:xfrm>
          <a:off x="822960" y="1600200"/>
          <a:ext cx="5760720" cy="3657600"/>
        </p:xfrm>
        <a:graphic>
          <a:graphicData uri="http://schemas.openxmlformats.org/drawingml/2006/table">
            <a:tbl>
              <a:tblPr firstRow="0" bandRow="0"/>
              <a:tblGrid>
                <a:gridCol w="1737360"/>
                <a:gridCol w="4023360"/>
              </a:tblGrid>
              <a:tr h="457200">
                <a:tc>
                  <a:txBody>
                    <a:bodyPr wrap="square"/>
                    <a:lstStyle/>
                    <a:p>
                      <a:r>
                        <a:rPr sz="1400" b="1">
                          <a:solidFill>
                            <a:srgbClr val="FFFFFF"/>
                          </a:solidFill>
                          <a:latin typeface="Calibri"/>
                        </a:rPr>
                        <a:t>Component</a:t>
                      </a:r>
                    </a:p>
                  </a:txBody>
                  <a:tcPr marL="91440" marR="91440" marT="27432" marB="27432" anchor="ctr">
                    <a:solidFill>
                      <a:srgbClr val="C00000"/>
                    </a:solidFill>
                  </a:tcPr>
                </a:tc>
                <a:tc>
                  <a:txBody>
                    <a:bodyPr wrap="square"/>
                    <a:lstStyle/>
                    <a:p>
                      <a:r>
                        <a:rPr sz="1400" b="1">
                          <a:solidFill>
                            <a:srgbClr val="FFFFFF"/>
                          </a:solidFill>
                          <a:latin typeface="Calibri"/>
                        </a:rPr>
                        <a:t>Specification</a:t>
                      </a:r>
                    </a:p>
                  </a:txBody>
                  <a:tcPr marL="91440" marR="91440" marT="27432" marB="27432" anchor="ctr">
                    <a:solidFill>
                      <a:srgbClr val="C00000"/>
                    </a:solidFill>
                  </a:tcPr>
                </a:tc>
              </a:tr>
              <a:tr h="457200">
                <a:tc>
                  <a:txBody>
                    <a:bodyPr wrap="square"/>
                    <a:lstStyle/>
                    <a:p>
                      <a:r>
                        <a:rPr sz="1400" b="1">
                          <a:solidFill>
                            <a:srgbClr val="262626"/>
                          </a:solidFill>
                          <a:latin typeface="Calibri"/>
                        </a:rPr>
                        <a:t>Language</a:t>
                      </a:r>
                    </a:p>
                  </a:txBody>
                  <a:tcPr marL="91440" marR="91440" marT="27432" marB="27432" anchor="ctr">
                    <a:solidFill>
                      <a:srgbClr val="F2F2F2"/>
                    </a:solidFill>
                  </a:tcPr>
                </a:tc>
                <a:tc>
                  <a:txBody>
                    <a:bodyPr wrap="square"/>
                    <a:lstStyle/>
                    <a:p>
                      <a:r>
                        <a:rPr sz="1400" b="0">
                          <a:solidFill>
                            <a:srgbClr val="262626"/>
                          </a:solidFill>
                          <a:latin typeface="Calibri"/>
                        </a:rPr>
                        <a:t>Python 3.10+</a:t>
                      </a:r>
                    </a:p>
                  </a:txBody>
                  <a:tcPr marL="91440" marR="91440" marT="27432" marB="27432" anchor="ctr">
                    <a:solidFill>
                      <a:srgbClr val="F2F2F2"/>
                    </a:solidFill>
                  </a:tcPr>
                </a:tc>
              </a:tr>
              <a:tr h="457200">
                <a:tc>
                  <a:txBody>
                    <a:bodyPr wrap="square"/>
                    <a:lstStyle/>
                    <a:p>
                      <a:r>
                        <a:rPr sz="1400" b="1">
                          <a:solidFill>
                            <a:srgbClr val="262626"/>
                          </a:solidFill>
                          <a:latin typeface="Calibri"/>
                        </a:rPr>
                        <a:t>Backend</a:t>
                      </a:r>
                    </a:p>
                  </a:txBody>
                  <a:tcPr marL="91440" marR="91440" marT="27432" marB="27432" anchor="ctr">
                    <a:solidFill>
                      <a:srgbClr val="FFFFFF"/>
                    </a:solidFill>
                  </a:tcPr>
                </a:tc>
                <a:tc>
                  <a:txBody>
                    <a:bodyPr wrap="square"/>
                    <a:lstStyle/>
                    <a:p>
                      <a:r>
                        <a:rPr sz="1400" b="0">
                          <a:solidFill>
                            <a:srgbClr val="262626"/>
                          </a:solidFill>
                          <a:latin typeface="Calibri"/>
                        </a:rPr>
                        <a:t>Flask (REST API)</a:t>
                      </a:r>
                    </a:p>
                  </a:txBody>
                  <a:tcPr marL="91440" marR="91440" marT="27432" marB="27432" anchor="ctr">
                    <a:solidFill>
                      <a:srgbClr val="FFFFFF"/>
                    </a:solidFill>
                  </a:tcPr>
                </a:tc>
              </a:tr>
              <a:tr h="457200">
                <a:tc>
                  <a:txBody>
                    <a:bodyPr wrap="square"/>
                    <a:lstStyle/>
                    <a:p>
                      <a:r>
                        <a:rPr sz="1400" b="1">
                          <a:solidFill>
                            <a:srgbClr val="262626"/>
                          </a:solidFill>
                          <a:latin typeface="Calibri"/>
                        </a:rPr>
                        <a:t>Database</a:t>
                      </a:r>
                    </a:p>
                  </a:txBody>
                  <a:tcPr marL="91440" marR="91440" marT="27432" marB="27432" anchor="ctr">
                    <a:solidFill>
                      <a:srgbClr val="F2F2F2"/>
                    </a:solidFill>
                  </a:tcPr>
                </a:tc>
                <a:tc>
                  <a:txBody>
                    <a:bodyPr wrap="square"/>
                    <a:lstStyle/>
                    <a:p>
                      <a:r>
                        <a:rPr sz="1400" b="0">
                          <a:solidFill>
                            <a:srgbClr val="262626"/>
                          </a:solidFill>
                          <a:latin typeface="Calibri"/>
                        </a:rPr>
                        <a:t>SQLite</a:t>
                      </a:r>
                    </a:p>
                  </a:txBody>
                  <a:tcPr marL="91440" marR="91440" marT="27432" marB="27432" anchor="ctr">
                    <a:solidFill>
                      <a:srgbClr val="F2F2F2"/>
                    </a:solidFill>
                  </a:tcPr>
                </a:tc>
              </a:tr>
              <a:tr h="457200">
                <a:tc>
                  <a:txBody>
                    <a:bodyPr wrap="square"/>
                    <a:lstStyle/>
                    <a:p>
                      <a:r>
                        <a:rPr sz="1400" b="1">
                          <a:solidFill>
                            <a:srgbClr val="262626"/>
                          </a:solidFill>
                          <a:latin typeface="Calibri"/>
                        </a:rPr>
                        <a:t>Frontend</a:t>
                      </a:r>
                    </a:p>
                  </a:txBody>
                  <a:tcPr marL="91440" marR="91440" marT="27432" marB="27432" anchor="ctr">
                    <a:solidFill>
                      <a:srgbClr val="FFFFFF"/>
                    </a:solidFill>
                  </a:tcPr>
                </a:tc>
                <a:tc>
                  <a:txBody>
                    <a:bodyPr wrap="square"/>
                    <a:lstStyle/>
                    <a:p>
                      <a:r>
                        <a:rPr sz="1400" b="0">
                          <a:solidFill>
                            <a:srgbClr val="262626"/>
                          </a:solidFill>
                          <a:latin typeface="Calibri"/>
                        </a:rPr>
                        <a:t>HTML, CSS, JavaScript</a:t>
                      </a:r>
                    </a:p>
                  </a:txBody>
                  <a:tcPr marL="91440" marR="91440" marT="27432" marB="27432" anchor="ctr">
                    <a:solidFill>
                      <a:srgbClr val="FFFFFF"/>
                    </a:solidFill>
                  </a:tcPr>
                </a:tc>
              </a:tr>
              <a:tr h="457200">
                <a:tc>
                  <a:txBody>
                    <a:bodyPr wrap="square"/>
                    <a:lstStyle/>
                    <a:p>
                      <a:r>
                        <a:rPr sz="1400" b="1">
                          <a:solidFill>
                            <a:srgbClr val="262626"/>
                          </a:solidFill>
                          <a:latin typeface="Calibri"/>
                        </a:rPr>
                        <a:t>Data</a:t>
                      </a:r>
                    </a:p>
                  </a:txBody>
                  <a:tcPr marL="91440" marR="91440" marT="27432" marB="27432" anchor="ctr">
                    <a:solidFill>
                      <a:srgbClr val="F2F2F2"/>
                    </a:solidFill>
                  </a:tcPr>
                </a:tc>
                <a:tc>
                  <a:txBody>
                    <a:bodyPr wrap="square"/>
                    <a:lstStyle/>
                    <a:p>
                      <a:r>
                        <a:rPr sz="1400" b="0">
                          <a:solidFill>
                            <a:srgbClr val="262626"/>
                          </a:solidFill>
                          <a:latin typeface="Calibri"/>
                        </a:rPr>
                        <a:t>JSON (20 articles, 5 editors)</a:t>
                      </a:r>
                    </a:p>
                  </a:txBody>
                  <a:tcPr marL="91440" marR="91440" marT="27432" marB="27432" anchor="ctr">
                    <a:solidFill>
                      <a:srgbClr val="F2F2F2"/>
                    </a:solidFill>
                  </a:tcPr>
                </a:tc>
              </a:tr>
              <a:tr h="457200">
                <a:tc>
                  <a:txBody>
                    <a:bodyPr wrap="square"/>
                    <a:lstStyle/>
                    <a:p>
                      <a:r>
                        <a:rPr sz="1400" b="1">
                          <a:solidFill>
                            <a:srgbClr val="262626"/>
                          </a:solidFill>
                          <a:latin typeface="Calibri"/>
                        </a:rPr>
                        <a:t>Testing</a:t>
                      </a:r>
                    </a:p>
                  </a:txBody>
                  <a:tcPr marL="91440" marR="91440" marT="27432" marB="27432" anchor="ctr">
                    <a:solidFill>
                      <a:srgbClr val="FFFFFF"/>
                    </a:solidFill>
                  </a:tcPr>
                </a:tc>
                <a:tc>
                  <a:txBody>
                    <a:bodyPr wrap="square"/>
                    <a:lstStyle/>
                    <a:p>
                      <a:r>
                        <a:rPr sz="1400" b="0">
                          <a:solidFill>
                            <a:srgbClr val="262626"/>
                          </a:solidFill>
                          <a:latin typeface="Calibri"/>
                        </a:rPr>
                        <a:t>Python unittest</a:t>
                      </a:r>
                    </a:p>
                  </a:txBody>
                  <a:tcPr marL="91440" marR="91440" marT="27432" marB="27432" anchor="ctr">
                    <a:solidFill>
                      <a:srgbClr val="FFFFFF"/>
                    </a:solidFill>
                  </a:tcPr>
                </a:tc>
              </a:tr>
              <a:tr h="457200">
                <a:tc>
                  <a:txBody>
                    <a:bodyPr wrap="square"/>
                    <a:lstStyle/>
                    <a:p>
                      <a:r>
                        <a:rPr sz="1400" b="1">
                          <a:solidFill>
                            <a:srgbClr val="262626"/>
                          </a:solidFill>
                          <a:latin typeface="Calibri"/>
                        </a:rPr>
                        <a:t>Tools / OS</a:t>
                      </a:r>
                    </a:p>
                  </a:txBody>
                  <a:tcPr marL="91440" marR="91440" marT="27432" marB="27432" anchor="ctr">
                    <a:solidFill>
                      <a:srgbClr val="F2F2F2"/>
                    </a:solidFill>
                  </a:tcPr>
                </a:tc>
                <a:tc>
                  <a:txBody>
                    <a:bodyPr wrap="square"/>
                    <a:lstStyle/>
                    <a:p>
                      <a:r>
                        <a:rPr sz="1400" b="0">
                          <a:solidFill>
                            <a:srgbClr val="262626"/>
                          </a:solidFill>
                          <a:latin typeface="Calibri"/>
                        </a:rPr>
                        <a:t>VS Code, Git; Windows, Linux or macOS</a:t>
                      </a:r>
                    </a:p>
                  </a:txBody>
                  <a:tcPr marL="91440" marR="91440" marT="27432" marB="27432" anchor="ctr">
                    <a:solidFill>
                      <a:srgbClr val="F2F2F2"/>
                    </a:solidFill>
                  </a:tcPr>
                </a:tc>
              </a:tr>
            </a:tbl>
          </a:graphicData>
        </a:graphic>
      </p:graphicFrame>
      <p:sp>
        <p:nvSpPr>
          <p:cNvPr id="5" name="Rounded Rectangle 4"/>
          <p:cNvSpPr/>
          <p:nvPr/>
        </p:nvSpPr>
        <p:spPr>
          <a:xfrm>
            <a:off x="6949440" y="1097280"/>
            <a:ext cx="4416552" cy="438912"/>
          </a:xfrm>
          <a:prstGeom prst="roundRect">
            <a:avLst>
              <a:gd name="adj" fmla="val 8000"/>
            </a:avLst>
          </a:prstGeom>
          <a:solidFill>
            <a:srgbClr val="FBE5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700" b="1" i="0">
                <a:solidFill>
                  <a:srgbClr val="C00000"/>
                </a:solidFill>
                <a:latin typeface="Calibri"/>
              </a:rPr>
              <a:t>Hardware</a:t>
            </a:r>
          </a:p>
        </p:txBody>
      </p:sp>
      <p:graphicFrame>
        <p:nvGraphicFramePr>
          <p:cNvPr id="6" name="Table 5"/>
          <p:cNvGraphicFramePr>
            <a:graphicFrameLocks noGrp="1"/>
          </p:cNvGraphicFramePr>
          <p:nvPr/>
        </p:nvGraphicFramePr>
        <p:xfrm>
          <a:off x="6949440" y="1600200"/>
          <a:ext cx="4416552" cy="2743200"/>
        </p:xfrm>
        <a:graphic>
          <a:graphicData uri="http://schemas.openxmlformats.org/drawingml/2006/table">
            <a:tbl>
              <a:tblPr firstRow="0" bandRow="0"/>
              <a:tblGrid>
                <a:gridCol w="1463040"/>
                <a:gridCol w="2953512"/>
              </a:tblGrid>
              <a:tr h="457200">
                <a:tc>
                  <a:txBody>
                    <a:bodyPr wrap="square"/>
                    <a:lstStyle/>
                    <a:p>
                      <a:r>
                        <a:rPr sz="1400" b="1">
                          <a:solidFill>
                            <a:srgbClr val="FFFFFF"/>
                          </a:solidFill>
                          <a:latin typeface="Calibri"/>
                        </a:rPr>
                        <a:t>Component</a:t>
                      </a:r>
                    </a:p>
                  </a:txBody>
                  <a:tcPr marL="91440" marR="91440" marT="27432" marB="27432" anchor="ctr">
                    <a:solidFill>
                      <a:srgbClr val="C00000"/>
                    </a:solidFill>
                  </a:tcPr>
                </a:tc>
                <a:tc>
                  <a:txBody>
                    <a:bodyPr wrap="square"/>
                    <a:lstStyle/>
                    <a:p>
                      <a:r>
                        <a:rPr sz="1400" b="1">
                          <a:solidFill>
                            <a:srgbClr val="FFFFFF"/>
                          </a:solidFill>
                          <a:latin typeface="Calibri"/>
                        </a:rPr>
                        <a:t>Specification</a:t>
                      </a:r>
                    </a:p>
                  </a:txBody>
                  <a:tcPr marL="91440" marR="91440" marT="27432" marB="27432" anchor="ctr">
                    <a:solidFill>
                      <a:srgbClr val="C00000"/>
                    </a:solidFill>
                  </a:tcPr>
                </a:tc>
              </a:tr>
              <a:tr h="457200">
                <a:tc>
                  <a:txBody>
                    <a:bodyPr wrap="square"/>
                    <a:lstStyle/>
                    <a:p>
                      <a:r>
                        <a:rPr sz="1400" b="1">
                          <a:solidFill>
                            <a:srgbClr val="262626"/>
                          </a:solidFill>
                          <a:latin typeface="Calibri"/>
                        </a:rPr>
                        <a:t>Processor</a:t>
                      </a:r>
                    </a:p>
                  </a:txBody>
                  <a:tcPr marL="91440" marR="91440" marT="27432" marB="27432" anchor="ctr">
                    <a:solidFill>
                      <a:srgbClr val="F2F2F2"/>
                    </a:solidFill>
                  </a:tcPr>
                </a:tc>
                <a:tc>
                  <a:txBody>
                    <a:bodyPr wrap="square"/>
                    <a:lstStyle/>
                    <a:p>
                      <a:r>
                        <a:rPr sz="1400" b="0">
                          <a:solidFill>
                            <a:srgbClr val="262626"/>
                          </a:solidFill>
                          <a:latin typeface="Calibri"/>
                        </a:rPr>
                        <a:t>Intel Core i5 or higher</a:t>
                      </a:r>
                    </a:p>
                  </a:txBody>
                  <a:tcPr marL="91440" marR="91440" marT="27432" marB="27432" anchor="ctr">
                    <a:solidFill>
                      <a:srgbClr val="F2F2F2"/>
                    </a:solidFill>
                  </a:tcPr>
                </a:tc>
              </a:tr>
              <a:tr h="457200">
                <a:tc>
                  <a:txBody>
                    <a:bodyPr wrap="square"/>
                    <a:lstStyle/>
                    <a:p>
                      <a:r>
                        <a:rPr sz="1400" b="1">
                          <a:solidFill>
                            <a:srgbClr val="262626"/>
                          </a:solidFill>
                          <a:latin typeface="Calibri"/>
                        </a:rPr>
                        <a:t>RAM</a:t>
                      </a:r>
                    </a:p>
                  </a:txBody>
                  <a:tcPr marL="91440" marR="91440" marT="27432" marB="27432" anchor="ctr">
                    <a:solidFill>
                      <a:srgbClr val="FFFFFF"/>
                    </a:solidFill>
                  </a:tcPr>
                </a:tc>
                <a:tc>
                  <a:txBody>
                    <a:bodyPr wrap="square"/>
                    <a:lstStyle/>
                    <a:p>
                      <a:r>
                        <a:rPr sz="1400" b="0">
                          <a:solidFill>
                            <a:srgbClr val="262626"/>
                          </a:solidFill>
                          <a:latin typeface="Calibri"/>
                        </a:rPr>
                        <a:t>8 GB minimum (16 GB for large data)</a:t>
                      </a:r>
                    </a:p>
                  </a:txBody>
                  <a:tcPr marL="91440" marR="91440" marT="27432" marB="27432" anchor="ctr">
                    <a:solidFill>
                      <a:srgbClr val="FFFFFF"/>
                    </a:solidFill>
                  </a:tcPr>
                </a:tc>
              </a:tr>
              <a:tr h="457200">
                <a:tc>
                  <a:txBody>
                    <a:bodyPr wrap="square"/>
                    <a:lstStyle/>
                    <a:p>
                      <a:r>
                        <a:rPr sz="1400" b="1">
                          <a:solidFill>
                            <a:srgbClr val="262626"/>
                          </a:solidFill>
                          <a:latin typeface="Calibri"/>
                        </a:rPr>
                        <a:t>Storage</a:t>
                      </a:r>
                    </a:p>
                  </a:txBody>
                  <a:tcPr marL="91440" marR="91440" marT="27432" marB="27432" anchor="ctr">
                    <a:solidFill>
                      <a:srgbClr val="F2F2F2"/>
                    </a:solidFill>
                  </a:tcPr>
                </a:tc>
                <a:tc>
                  <a:txBody>
                    <a:bodyPr wrap="square"/>
                    <a:lstStyle/>
                    <a:p>
                      <a:r>
                        <a:rPr sz="1400" b="0">
                          <a:solidFill>
                            <a:srgbClr val="262626"/>
                          </a:solidFill>
                          <a:latin typeface="Calibri"/>
                        </a:rPr>
                        <a:t>5 GB free space</a:t>
                      </a:r>
                    </a:p>
                  </a:txBody>
                  <a:tcPr marL="91440" marR="91440" marT="27432" marB="27432" anchor="ctr">
                    <a:solidFill>
                      <a:srgbClr val="F2F2F2"/>
                    </a:solidFill>
                  </a:tcPr>
                </a:tc>
              </a:tr>
              <a:tr h="457200">
                <a:tc>
                  <a:txBody>
                    <a:bodyPr wrap="square"/>
                    <a:lstStyle/>
                    <a:p>
                      <a:r>
                        <a:rPr sz="1400" b="1">
                          <a:solidFill>
                            <a:srgbClr val="262626"/>
                          </a:solidFill>
                          <a:latin typeface="Calibri"/>
                        </a:rPr>
                        <a:t>Internet</a:t>
                      </a:r>
                    </a:p>
                  </a:txBody>
                  <a:tcPr marL="91440" marR="91440" marT="27432" marB="27432" anchor="ctr">
                    <a:solidFill>
                      <a:srgbClr val="FFFFFF"/>
                    </a:solidFill>
                  </a:tcPr>
                </a:tc>
                <a:tc>
                  <a:txBody>
                    <a:bodyPr wrap="square"/>
                    <a:lstStyle/>
                    <a:p>
                      <a:r>
                        <a:rPr sz="1400" b="0">
                          <a:solidFill>
                            <a:srgbClr val="262626"/>
                          </a:solidFill>
                          <a:latin typeface="Calibri"/>
                        </a:rPr>
                        <a:t>Only for live wire feeds</a:t>
                      </a:r>
                    </a:p>
                  </a:txBody>
                  <a:tcPr marL="91440" marR="91440" marT="27432" marB="27432" anchor="ctr">
                    <a:solidFill>
                      <a:srgbClr val="FFFFFF"/>
                    </a:solidFill>
                  </a:tcPr>
                </a:tc>
              </a:tr>
              <a:tr h="457200">
                <a:tc>
                  <a:txBody>
                    <a:bodyPr wrap="square"/>
                    <a:lstStyle/>
                    <a:p>
                      <a:r>
                        <a:rPr sz="1400" b="1">
                          <a:solidFill>
                            <a:srgbClr val="262626"/>
                          </a:solidFill>
                          <a:latin typeface="Calibri"/>
                        </a:rPr>
                        <a:t>Peripherals</a:t>
                      </a:r>
                    </a:p>
                  </a:txBody>
                  <a:tcPr marL="91440" marR="91440" marT="27432" marB="27432" anchor="ctr">
                    <a:solidFill>
                      <a:srgbClr val="F2F2F2"/>
                    </a:solidFill>
                  </a:tcPr>
                </a:tc>
                <a:tc>
                  <a:txBody>
                    <a:bodyPr wrap="square"/>
                    <a:lstStyle/>
                    <a:p>
                      <a:r>
                        <a:rPr sz="1400" b="0">
                          <a:solidFill>
                            <a:srgbClr val="262626"/>
                          </a:solidFill>
                          <a:latin typeface="Calibri"/>
                        </a:rPr>
                        <a:t>Display, keyboard, mouse</a:t>
                      </a:r>
                    </a:p>
                  </a:txBody>
                  <a:tcPr marL="91440" marR="91440" marT="27432" marB="27432" anchor="ctr">
                    <a:solidFill>
                      <a:srgbClr val="F2F2F2"/>
                    </a:solidFill>
                  </a:tcPr>
                </a:tc>
              </a:tr>
            </a:tbl>
          </a:graphicData>
        </a:graphic>
      </p:graphicFrame>
      <p:sp>
        <p:nvSpPr>
          <p:cNvPr id="7" name="Rounded Rectangle 6"/>
          <p:cNvSpPr/>
          <p:nvPr/>
        </p:nvSpPr>
        <p:spPr>
          <a:xfrm>
            <a:off x="6949440" y="4663440"/>
            <a:ext cx="4416552" cy="1188720"/>
          </a:xfrm>
          <a:prstGeom prst="roundRect">
            <a:avLst>
              <a:gd name="adj" fmla="val 8000"/>
            </a:avLst>
          </a:prstGeom>
          <a:solidFill>
            <a:srgbClr val="FBE5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solidFill>
                  <a:srgbClr val="C00000"/>
                </a:solidFill>
                <a:latin typeface="Calibri"/>
              </a:rPr>
              <a:t>Note: </a:t>
            </a:r>
            <a:r>
              <a:rPr sz="1400" b="0" i="0">
                <a:solidFill>
                  <a:srgbClr val="262626"/>
                </a:solidFill>
                <a:latin typeface="Calibri"/>
              </a:rPr>
              <a:t>all text processing and algorithms are written by us in plain Python, so no NLTK or NumPy is needed.</a:t>
            </a:r>
          </a:p>
        </p:txBody>
      </p:sp>
    </p:spTree>
    <p:extLst>
      <p:ext uri="{BB962C8B-B14F-4D97-AF65-F5344CB8AC3E}">
        <p14:creationId xmlns:p14="http://schemas.microsoft.com/office/powerpoint/2010/main" val="2292750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901440" y="219456"/>
            <a:ext cx="4389120" cy="566928"/>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600" b="1">
                <a:solidFill>
                  <a:srgbClr val="FFFFFF"/>
                </a:solidFill>
                <a:latin typeface="Calibri"/>
              </a:rPr>
              <a:t>Flow Chart</a:t>
            </a:r>
            <a:endParaRPr lang="en-US"/>
          </a:p>
        </p:txBody>
      </p:sp>
      <p:sp>
        <p:nvSpPr>
          <p:cNvPr id="3" name="Oval 2"/>
          <p:cNvSpPr/>
          <p:nvPr/>
        </p:nvSpPr>
        <p:spPr>
          <a:xfrm>
            <a:off x="815340" y="2697480"/>
            <a:ext cx="1783080" cy="9601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News Articles</a:t>
            </a:r>
          </a:p>
        </p:txBody>
      </p:sp>
      <p:cxnSp>
        <p:nvCxnSpPr>
          <p:cNvPr id="4" name="Connector 3"/>
          <p:cNvCxnSpPr/>
          <p:nvPr/>
        </p:nvCxnSpPr>
        <p:spPr>
          <a:xfrm>
            <a:off x="2634996" y="3177540"/>
            <a:ext cx="338328" cy="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3009900" y="2697480"/>
            <a:ext cx="1783080" cy="9601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262626"/>
                </a:solidFill>
                <a:latin typeface="Calibri"/>
              </a:rPr>
              <a:t>Text Cleaning</a:t>
            </a:r>
          </a:p>
        </p:txBody>
      </p:sp>
      <p:cxnSp>
        <p:nvCxnSpPr>
          <p:cNvPr id="6" name="Connector 5"/>
          <p:cNvCxnSpPr/>
          <p:nvPr/>
        </p:nvCxnSpPr>
        <p:spPr>
          <a:xfrm>
            <a:off x="4829556" y="3177540"/>
            <a:ext cx="338328" cy="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204460" y="2697480"/>
            <a:ext cx="1783080" cy="9601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262626"/>
                </a:solidFill>
                <a:latin typeface="Calibri"/>
              </a:rPr>
              <a:t>Tokenization</a:t>
            </a:r>
          </a:p>
        </p:txBody>
      </p:sp>
      <p:cxnSp>
        <p:nvCxnSpPr>
          <p:cNvPr id="8" name="Connector 7"/>
          <p:cNvCxnSpPr/>
          <p:nvPr/>
        </p:nvCxnSpPr>
        <p:spPr>
          <a:xfrm>
            <a:off x="7024116" y="3177540"/>
            <a:ext cx="338328" cy="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399019" y="2697480"/>
            <a:ext cx="1783080" cy="9601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262626"/>
                </a:solidFill>
                <a:latin typeface="Calibri"/>
              </a:rPr>
              <a:t>Stopword Removal</a:t>
            </a:r>
          </a:p>
        </p:txBody>
      </p:sp>
      <p:cxnSp>
        <p:nvCxnSpPr>
          <p:cNvPr id="10" name="Connector 9"/>
          <p:cNvCxnSpPr/>
          <p:nvPr/>
        </p:nvCxnSpPr>
        <p:spPr>
          <a:xfrm>
            <a:off x="9218675" y="3177540"/>
            <a:ext cx="338328" cy="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593580" y="2697480"/>
            <a:ext cx="1783080" cy="96012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Hashing and MinHash</a:t>
            </a:r>
          </a:p>
        </p:txBody>
      </p:sp>
      <p:sp>
        <p:nvSpPr>
          <p:cNvPr id="12" name="Rounded Rectangle 11"/>
          <p:cNvSpPr/>
          <p:nvPr/>
        </p:nvSpPr>
        <p:spPr>
          <a:xfrm>
            <a:off x="815340" y="4526280"/>
            <a:ext cx="1783080" cy="9601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262626"/>
                </a:solidFill>
                <a:latin typeface="Calibri"/>
              </a:rPr>
              <a:t>Similarity Checking</a:t>
            </a:r>
          </a:p>
        </p:txBody>
      </p:sp>
      <p:cxnSp>
        <p:nvCxnSpPr>
          <p:cNvPr id="13" name="Connector 12"/>
          <p:cNvCxnSpPr/>
          <p:nvPr/>
        </p:nvCxnSpPr>
        <p:spPr>
          <a:xfrm>
            <a:off x="2634996" y="5006340"/>
            <a:ext cx="338328" cy="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009900" y="4526280"/>
            <a:ext cx="1783080" cy="96012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Union-Find Clustering</a:t>
            </a:r>
          </a:p>
        </p:txBody>
      </p:sp>
      <p:cxnSp>
        <p:nvCxnSpPr>
          <p:cNvPr id="15" name="Connector 14"/>
          <p:cNvCxnSpPr/>
          <p:nvPr/>
        </p:nvCxnSpPr>
        <p:spPr>
          <a:xfrm>
            <a:off x="4829556" y="5006340"/>
            <a:ext cx="338328" cy="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204460" y="4526280"/>
            <a:ext cx="1783080" cy="9601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262626"/>
                </a:solidFill>
                <a:latin typeface="Calibri"/>
              </a:rPr>
              <a:t>Duplicate Detection</a:t>
            </a:r>
          </a:p>
        </p:txBody>
      </p:sp>
      <p:cxnSp>
        <p:nvCxnSpPr>
          <p:cNvPr id="17" name="Connector 16"/>
          <p:cNvCxnSpPr/>
          <p:nvPr/>
        </p:nvCxnSpPr>
        <p:spPr>
          <a:xfrm>
            <a:off x="7024116" y="5006340"/>
            <a:ext cx="338328" cy="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399019" y="4526280"/>
            <a:ext cx="1783080" cy="9601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262626"/>
                </a:solidFill>
                <a:latin typeface="Calibri"/>
              </a:rPr>
              <a:t>Ranking</a:t>
            </a:r>
          </a:p>
        </p:txBody>
      </p:sp>
      <p:cxnSp>
        <p:nvCxnSpPr>
          <p:cNvPr id="19" name="Connector 18"/>
          <p:cNvCxnSpPr/>
          <p:nvPr/>
        </p:nvCxnSpPr>
        <p:spPr>
          <a:xfrm>
            <a:off x="9218675" y="5006340"/>
            <a:ext cx="338328" cy="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9593580" y="4526280"/>
            <a:ext cx="1783080" cy="9601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Frontend Display</a:t>
            </a:r>
          </a:p>
        </p:txBody>
      </p:sp>
      <p:cxnSp>
        <p:nvCxnSpPr>
          <p:cNvPr id="21" name="Connector 20"/>
          <p:cNvCxnSpPr/>
          <p:nvPr/>
        </p:nvCxnSpPr>
        <p:spPr>
          <a:xfrm>
            <a:off x="10485120" y="3657600"/>
            <a:ext cx="0" cy="457200"/>
          </a:xfrm>
          <a:prstGeom prst="line">
            <a:avLst/>
          </a:prstGeom>
          <a:ln w="254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1706880" y="4114800"/>
            <a:ext cx="8778240" cy="0"/>
          </a:xfrm>
          <a:prstGeom prst="line">
            <a:avLst/>
          </a:prstGeom>
          <a:ln w="254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706880" y="4114800"/>
            <a:ext cx="0" cy="393192"/>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5340" y="5715000"/>
            <a:ext cx="9144000" cy="320040"/>
          </a:xfrm>
          <a:prstGeom prst="rect">
            <a:avLst/>
          </a:prstGeom>
          <a:noFill/>
        </p:spPr>
        <p:txBody>
          <a:bodyPr wrap="square" lIns="0" rIns="0" tIns="0" bIns="0" anchor="t">
            <a:spAutoFit/>
          </a:bodyPr>
          <a:lstStyle/>
          <a:p>
            <a:pPr algn="l">
              <a:spcAft>
                <a:spcPts val="600"/>
              </a:spcAft>
            </a:pPr>
            <a:r>
              <a:rPr sz="1300" b="0" i="1">
                <a:solidFill>
                  <a:srgbClr val="595959"/>
                </a:solidFill>
                <a:latin typeface="Calibri"/>
              </a:rPr>
              <a:t>Ovals = start and end.  Red boxes = the two core steps: fingerprints (hashing) and grouping (Union-Find).</a:t>
            </a:r>
          </a:p>
        </p:txBody>
      </p:sp>
      <p:sp>
        <p:nvSpPr>
          <p:cNvPr id="25" name="Rounded Rectangle 24"/>
          <p:cNvSpPr/>
          <p:nvPr/>
        </p:nvSpPr>
        <p:spPr>
          <a:xfrm>
            <a:off x="3200400" y="1188720"/>
            <a:ext cx="8176260" cy="1005840"/>
          </a:xfrm>
          <a:prstGeom prst="roundRect">
            <a:avLst>
              <a:gd name="adj" fmla="val 8000"/>
            </a:avLst>
          </a:prstGeom>
          <a:solidFill>
            <a:srgbClr val="FB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429000" y="1188720"/>
            <a:ext cx="7719060" cy="1005840"/>
          </a:xfrm>
          <a:prstGeom prst="rect">
            <a:avLst/>
          </a:prstGeom>
          <a:noFill/>
        </p:spPr>
        <p:txBody>
          <a:bodyPr wrap="square" lIns="0" rIns="0" tIns="0" bIns="0" anchor="ctr">
            <a:spAutoFit/>
          </a:bodyPr>
          <a:lstStyle/>
          <a:p>
            <a:pPr algn="l">
              <a:spcAft>
                <a:spcPts val="200"/>
              </a:spcAft>
            </a:pPr>
            <a:r>
              <a:rPr sz="1500" b="1" i="0">
                <a:solidFill>
                  <a:srgbClr val="C00000"/>
                </a:solidFill>
                <a:latin typeface="Calibri"/>
              </a:rPr>
              <a:t>Decision rules</a:t>
            </a:r>
          </a:p>
          <a:p>
            <a:pPr algn="l">
              <a:spcAft>
                <a:spcPts val="200"/>
              </a:spcAft>
            </a:pPr>
            <a:r>
              <a:rPr sz="1500" b="0" i="0">
                <a:solidFill>
                  <a:srgbClr val="262626"/>
                </a:solidFill>
                <a:latin typeface="Calibri"/>
              </a:rPr>
              <a:t>MinHash similarity ≥ 0.12  →  same story (union)</a:t>
            </a:r>
          </a:p>
          <a:p>
            <a:pPr algn="l">
              <a:spcAft>
                <a:spcPts val="200"/>
              </a:spcAft>
            </a:pPr>
            <a:r>
              <a:rPr sz="1500" b="0" i="0">
                <a:solidFill>
                  <a:srgbClr val="262626"/>
                </a:solidFill>
                <a:latin typeface="Calibri"/>
              </a:rPr>
              <a:t>Jaccard overlap ≥ 0.60  →  duplicate copy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896868" y="219456"/>
            <a:ext cx="4398264" cy="566928"/>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600" b="1">
                <a:solidFill>
                  <a:srgbClr val="FFFFFF"/>
                </a:solidFill>
                <a:latin typeface="Calibri"/>
              </a:rPr>
              <a:t>System Architecture</a:t>
            </a:r>
            <a:endParaRPr lang="en-US"/>
          </a:p>
        </p:txBody>
      </p:sp>
      <p:sp>
        <p:nvSpPr>
          <p:cNvPr id="3" name="Rounded Rectangle 2"/>
          <p:cNvSpPr/>
          <p:nvPr/>
        </p:nvSpPr>
        <p:spPr>
          <a:xfrm>
            <a:off x="586740" y="3794760"/>
            <a:ext cx="1874519" cy="13258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262626"/>
                </a:solidFill>
                <a:latin typeface="Calibri"/>
              </a:rPr>
              <a:t>Frontend Dashboard</a:t>
            </a:r>
          </a:p>
          <a:p>
            <a:pPr algn="ctr"/>
            <a:r>
              <a:rPr sz="1200" b="0" i="0">
                <a:solidFill>
                  <a:srgbClr val="262626"/>
                </a:solidFill>
                <a:latin typeface="Calibri"/>
              </a:rPr>
              <a:t>index.html, style.css, app.js</a:t>
            </a:r>
          </a:p>
        </p:txBody>
      </p:sp>
      <p:cxnSp>
        <p:nvCxnSpPr>
          <p:cNvPr id="4" name="Connector 3"/>
          <p:cNvCxnSpPr/>
          <p:nvPr/>
        </p:nvCxnSpPr>
        <p:spPr>
          <a:xfrm>
            <a:off x="2497836" y="4453128"/>
            <a:ext cx="338328" cy="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2872740" y="3794760"/>
            <a:ext cx="1874519" cy="13258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262626"/>
                </a:solidFill>
                <a:latin typeface="Calibri"/>
              </a:rPr>
              <a:t>Flask REST API</a:t>
            </a:r>
          </a:p>
          <a:p>
            <a:pPr algn="ctr"/>
            <a:r>
              <a:rPr sz="1200" b="0" i="0">
                <a:solidFill>
                  <a:srgbClr val="262626"/>
                </a:solidFill>
                <a:latin typeface="Calibri"/>
              </a:rPr>
              <a:t>app.py  /api/...</a:t>
            </a:r>
          </a:p>
        </p:txBody>
      </p:sp>
      <p:cxnSp>
        <p:nvCxnSpPr>
          <p:cNvPr id="6" name="Connector 5"/>
          <p:cNvCxnSpPr/>
          <p:nvPr/>
        </p:nvCxnSpPr>
        <p:spPr>
          <a:xfrm>
            <a:off x="4783836" y="4453128"/>
            <a:ext cx="338328" cy="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158740" y="3794760"/>
            <a:ext cx="1874519" cy="132588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FFFFFF"/>
                </a:solidFill>
                <a:latin typeface="Calibri"/>
              </a:rPr>
              <a:t>DSA Modules</a:t>
            </a:r>
          </a:p>
          <a:p>
            <a:pPr algn="ctr"/>
            <a:r>
              <a:rPr sz="1200" b="0" i="0">
                <a:solidFill>
                  <a:srgbClr val="FFFFFF"/>
                </a:solidFill>
                <a:latin typeface="Calibri"/>
              </a:rPr>
              <a:t>core/ folder</a:t>
            </a:r>
          </a:p>
        </p:txBody>
      </p:sp>
      <p:cxnSp>
        <p:nvCxnSpPr>
          <p:cNvPr id="8" name="Connector 7"/>
          <p:cNvCxnSpPr/>
          <p:nvPr/>
        </p:nvCxnSpPr>
        <p:spPr>
          <a:xfrm>
            <a:off x="7069836" y="4453128"/>
            <a:ext cx="338328" cy="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444739" y="3794760"/>
            <a:ext cx="1874519" cy="13258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262626"/>
                </a:solidFill>
                <a:latin typeface="Calibri"/>
              </a:rPr>
              <a:t>SQLite Database</a:t>
            </a:r>
          </a:p>
          <a:p>
            <a:pPr algn="ctr"/>
            <a:r>
              <a:rPr sz="1200" b="0" i="0">
                <a:solidFill>
                  <a:srgbClr val="262626"/>
                </a:solidFill>
                <a:latin typeface="Calibri"/>
              </a:rPr>
              <a:t>newsroom.db</a:t>
            </a:r>
          </a:p>
        </p:txBody>
      </p:sp>
      <p:cxnSp>
        <p:nvCxnSpPr>
          <p:cNvPr id="10" name="Connector 9"/>
          <p:cNvCxnSpPr/>
          <p:nvPr/>
        </p:nvCxnSpPr>
        <p:spPr>
          <a:xfrm>
            <a:off x="9355835" y="4453128"/>
            <a:ext cx="338329" cy="0"/>
          </a:xfrm>
          <a:prstGeom prst="line">
            <a:avLst/>
          </a:prstGeom>
          <a:ln w="254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730740" y="3794760"/>
            <a:ext cx="1874519" cy="13258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solidFill>
                  <a:srgbClr val="262626"/>
                </a:solidFill>
                <a:latin typeface="Calibri"/>
              </a:rPr>
              <a:t>Response to UI</a:t>
            </a:r>
          </a:p>
          <a:p>
            <a:pPr algn="ctr"/>
            <a:r>
              <a:rPr sz="1200" b="0" i="0">
                <a:solidFill>
                  <a:srgbClr val="262626"/>
                </a:solidFill>
                <a:latin typeface="Calibri"/>
              </a:rPr>
              <a:t>JSON → story cards</a:t>
            </a:r>
          </a:p>
        </p:txBody>
      </p:sp>
      <p:cxnSp>
        <p:nvCxnSpPr>
          <p:cNvPr id="12" name="Connector 11"/>
          <p:cNvCxnSpPr/>
          <p:nvPr/>
        </p:nvCxnSpPr>
        <p:spPr>
          <a:xfrm>
            <a:off x="10668000" y="5120640"/>
            <a:ext cx="0" cy="365760"/>
          </a:xfrm>
          <a:prstGeom prst="line">
            <a:avLst/>
          </a:prstGeom>
          <a:ln w="25400">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1523999" y="5486400"/>
            <a:ext cx="9144001" cy="0"/>
          </a:xfrm>
          <a:prstGeom prst="line">
            <a:avLst/>
          </a:prstGeom>
          <a:ln w="25400">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523999" y="5138928"/>
            <a:ext cx="0" cy="347472"/>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200400" y="5550408"/>
            <a:ext cx="5788152" cy="274320"/>
          </a:xfrm>
          <a:prstGeom prst="rect">
            <a:avLst/>
          </a:prstGeom>
          <a:noFill/>
        </p:spPr>
        <p:txBody>
          <a:bodyPr wrap="square" lIns="0" rIns="0" tIns="0" bIns="0" anchor="t">
            <a:spAutoFit/>
          </a:bodyPr>
          <a:lstStyle/>
          <a:p>
            <a:pPr algn="ctr">
              <a:spcAft>
                <a:spcPts val="600"/>
              </a:spcAft>
            </a:pPr>
            <a:r>
              <a:rPr sz="1200" b="0" i="1">
                <a:solidFill>
                  <a:srgbClr val="595959"/>
                </a:solidFill>
                <a:latin typeface="Calibri"/>
              </a:rPr>
              <a:t>Browser redraws the dashboard with the new data</a:t>
            </a:r>
          </a:p>
        </p:txBody>
      </p:sp>
      <p:sp>
        <p:nvSpPr>
          <p:cNvPr id="16" name="Rounded Rectangle 15"/>
          <p:cNvSpPr/>
          <p:nvPr/>
        </p:nvSpPr>
        <p:spPr>
          <a:xfrm>
            <a:off x="586740" y="1097280"/>
            <a:ext cx="5372100" cy="23774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5340" y="1234440"/>
            <a:ext cx="4914900" cy="2194560"/>
          </a:xfrm>
          <a:prstGeom prst="rect">
            <a:avLst/>
          </a:prstGeom>
          <a:noFill/>
        </p:spPr>
        <p:txBody>
          <a:bodyPr wrap="square" lIns="0" rIns="0" tIns="0" bIns="0" anchor="t">
            <a:spAutoFit/>
          </a:bodyPr>
          <a:lstStyle/>
          <a:p>
            <a:pPr algn="l">
              <a:spcAft>
                <a:spcPts val="600"/>
              </a:spcAft>
            </a:pPr>
            <a:r>
              <a:rPr sz="1700" b="1" i="0">
                <a:solidFill>
                  <a:srgbClr val="C00000"/>
                </a:solidFill>
                <a:latin typeface="Calibri"/>
              </a:rPr>
              <a:t>Frontend</a:t>
            </a:r>
          </a:p>
          <a:p>
            <a:pPr algn="l" marL="256032" indent="-256032">
              <a:spcAft>
                <a:spcPts val="600"/>
              </a:spcAft>
              <a:buClr>
                <a:srgbClr val="C00000"/>
              </a:buClr>
              <a:buFont typeface="Arial"/>
              <a:buChar char="•"/>
            </a:pPr>
            <a:r>
              <a:rPr sz="1400" b="1" i="0">
                <a:solidFill>
                  <a:srgbClr val="262626"/>
                </a:solidFill>
                <a:latin typeface="Calibri"/>
              </a:rPr>
              <a:t>index.html</a:t>
            </a:r>
            <a:r>
              <a:rPr sz="1400" b="0" i="0">
                <a:solidFill>
                  <a:srgbClr val="262626"/>
                </a:solidFill>
                <a:latin typeface="Calibri"/>
              </a:rPr>
              <a:t> – page structure: stats, search, story cards, tool tabs</a:t>
            </a:r>
          </a:p>
          <a:p>
            <a:pPr algn="l" marL="256032" indent="-256032">
              <a:spcAft>
                <a:spcPts val="600"/>
              </a:spcAft>
              <a:buClr>
                <a:srgbClr val="C00000"/>
              </a:buClr>
              <a:buFont typeface="Arial"/>
              <a:buChar char="•"/>
            </a:pPr>
            <a:r>
              <a:rPr sz="1400" b="1" i="0">
                <a:solidFill>
                  <a:srgbClr val="262626"/>
                </a:solidFill>
                <a:latin typeface="Calibri"/>
              </a:rPr>
              <a:t>style.css</a:t>
            </a:r>
            <a:r>
              <a:rPr sz="1400" b="0" i="0">
                <a:solidFill>
                  <a:srgbClr val="262626"/>
                </a:solidFill>
                <a:latin typeface="Calibri"/>
              </a:rPr>
              <a:t> – red newsroom theme and card layout</a:t>
            </a:r>
          </a:p>
          <a:p>
            <a:pPr algn="l" marL="256032" indent="-256032">
              <a:spcAft>
                <a:spcPts val="600"/>
              </a:spcAft>
              <a:buClr>
                <a:srgbClr val="C00000"/>
              </a:buClr>
              <a:buFont typeface="Arial"/>
              <a:buChar char="•"/>
            </a:pPr>
            <a:r>
              <a:rPr sz="1400" b="1" i="0">
                <a:solidFill>
                  <a:srgbClr val="262626"/>
                </a:solidFill>
                <a:latin typeface="Calibri"/>
              </a:rPr>
              <a:t>app.js</a:t>
            </a:r>
            <a:r>
              <a:rPr sz="1400" b="0" i="0">
                <a:solidFill>
                  <a:srgbClr val="262626"/>
                </a:solidFill>
                <a:latin typeface="Calibri"/>
              </a:rPr>
              <a:t> – calls the backend APIs with fetch() and shows results</a:t>
            </a:r>
          </a:p>
        </p:txBody>
      </p:sp>
      <p:sp>
        <p:nvSpPr>
          <p:cNvPr id="18" name="Rounded Rectangle 17"/>
          <p:cNvSpPr/>
          <p:nvPr/>
        </p:nvSpPr>
        <p:spPr>
          <a:xfrm>
            <a:off x="6233160" y="1097280"/>
            <a:ext cx="5372100" cy="23774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61760" y="1234440"/>
            <a:ext cx="4914900" cy="2194560"/>
          </a:xfrm>
          <a:prstGeom prst="rect">
            <a:avLst/>
          </a:prstGeom>
          <a:noFill/>
        </p:spPr>
        <p:txBody>
          <a:bodyPr wrap="square" lIns="0" rIns="0" tIns="0" bIns="0" anchor="t">
            <a:spAutoFit/>
          </a:bodyPr>
          <a:lstStyle/>
          <a:p>
            <a:pPr algn="l">
              <a:spcAft>
                <a:spcPts val="600"/>
              </a:spcAft>
            </a:pPr>
            <a:r>
              <a:rPr sz="1700" b="1" i="0">
                <a:solidFill>
                  <a:srgbClr val="C00000"/>
                </a:solidFill>
                <a:latin typeface="Calibri"/>
              </a:rPr>
              <a:t>Backend</a:t>
            </a:r>
          </a:p>
          <a:p>
            <a:pPr algn="l" marL="256032" indent="-256032">
              <a:spcAft>
                <a:spcPts val="600"/>
              </a:spcAft>
              <a:buClr>
                <a:srgbClr val="C00000"/>
              </a:buClr>
              <a:buFont typeface="Arial"/>
              <a:buChar char="•"/>
            </a:pPr>
            <a:r>
              <a:rPr sz="1400" b="1" i="0">
                <a:solidFill>
                  <a:srgbClr val="262626"/>
                </a:solidFill>
                <a:latin typeface="Calibri"/>
              </a:rPr>
              <a:t>app.py</a:t>
            </a:r>
            <a:r>
              <a:rPr sz="1400" b="0" i="0">
                <a:solidFill>
                  <a:srgbClr val="262626"/>
                </a:solidFill>
                <a:latin typeface="Calibri"/>
              </a:rPr>
              <a:t> – Flask server and all API routes</a:t>
            </a:r>
          </a:p>
          <a:p>
            <a:pPr algn="l" marL="256032" indent="-256032">
              <a:spcAft>
                <a:spcPts val="600"/>
              </a:spcAft>
              <a:buClr>
                <a:srgbClr val="C00000"/>
              </a:buClr>
              <a:buFont typeface="Arial"/>
              <a:buChar char="•"/>
            </a:pPr>
            <a:r>
              <a:rPr sz="1400" b="1" i="0">
                <a:solidFill>
                  <a:srgbClr val="262626"/>
                </a:solidFill>
                <a:latin typeface="Calibri"/>
              </a:rPr>
              <a:t>database.py</a:t>
            </a:r>
            <a:r>
              <a:rPr sz="1400" b="0" i="0">
                <a:solidFill>
                  <a:srgbClr val="262626"/>
                </a:solidFill>
                <a:latin typeface="Calibri"/>
              </a:rPr>
              <a:t> – SQLite table, sample data, add/delete</a:t>
            </a:r>
          </a:p>
          <a:p>
            <a:pPr algn="l" marL="256032" indent="-256032">
              <a:spcAft>
                <a:spcPts val="600"/>
              </a:spcAft>
              <a:buClr>
                <a:srgbClr val="C00000"/>
              </a:buClr>
              <a:buFont typeface="Arial"/>
              <a:buChar char="•"/>
            </a:pPr>
            <a:r>
              <a:rPr sz="1400" b="1" i="0">
                <a:solidFill>
                  <a:srgbClr val="262626"/>
                </a:solidFill>
                <a:latin typeface="Calibri"/>
              </a:rPr>
              <a:t>clustering.py</a:t>
            </a:r>
            <a:r>
              <a:rPr sz="1400" b="0" i="0">
                <a:solidFill>
                  <a:srgbClr val="262626"/>
                </a:solidFill>
                <a:latin typeface="Calibri"/>
              </a:rPr>
              <a:t> – main pipeline: duplicates → clusters → ranking</a:t>
            </a:r>
          </a:p>
          <a:p>
            <a:pPr algn="l" marL="256032" indent="-256032">
              <a:spcAft>
                <a:spcPts val="600"/>
              </a:spcAft>
              <a:buClr>
                <a:srgbClr val="C00000"/>
              </a:buClr>
              <a:buFont typeface="Arial"/>
              <a:buChar char="•"/>
            </a:pPr>
            <a:r>
              <a:rPr sz="1400" b="1" i="0">
                <a:solidFill>
                  <a:srgbClr val="262626"/>
                </a:solidFill>
                <a:latin typeface="Calibri"/>
              </a:rPr>
              <a:t>core/</a:t>
            </a:r>
            <a:r>
              <a:rPr sz="1400" b="0" i="0">
                <a:solidFill>
                  <a:srgbClr val="262626"/>
                </a:solidFill>
                <a:latin typeface="Calibri"/>
              </a:rPr>
              <a:t> – one file per algorithm (hashing, union_find, trie,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901440" y="219456"/>
            <a:ext cx="4389120" cy="566928"/>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600" b="1">
                <a:solidFill>
                  <a:srgbClr val="FFFFFF"/>
                </a:solidFill>
                <a:latin typeface="Calibri"/>
              </a:rPr>
              <a:t>DSA Concepts Used</a:t>
            </a:r>
            <a:endParaRPr lang="en-US"/>
          </a:p>
        </p:txBody>
      </p:sp>
      <p:graphicFrame>
        <p:nvGraphicFramePr>
          <p:cNvPr id="3" name="Table 2"/>
          <p:cNvGraphicFramePr>
            <a:graphicFrameLocks noGrp="1"/>
          </p:cNvGraphicFramePr>
          <p:nvPr/>
        </p:nvGraphicFramePr>
        <p:xfrm>
          <a:off x="731520" y="1188720"/>
          <a:ext cx="5257800" cy="4389120"/>
        </p:xfrm>
        <a:graphic>
          <a:graphicData uri="http://schemas.openxmlformats.org/drawingml/2006/table">
            <a:tbl>
              <a:tblPr firstRow="0" bandRow="0"/>
              <a:tblGrid>
                <a:gridCol w="457200"/>
                <a:gridCol w="2240280"/>
                <a:gridCol w="2560320"/>
              </a:tblGrid>
              <a:tr h="548640">
                <a:tc>
                  <a:txBody>
                    <a:bodyPr wrap="square"/>
                    <a:lstStyle/>
                    <a:p>
                      <a:r>
                        <a:rPr sz="1500" b="1">
                          <a:solidFill>
                            <a:srgbClr val="FFFFFF"/>
                          </a:solidFill>
                          <a:latin typeface="Calibri"/>
                        </a:rPr>
                        <a:t>#</a:t>
                      </a:r>
                    </a:p>
                  </a:txBody>
                  <a:tcPr marL="91440" marR="91440" marT="27432" marB="27432" anchor="ctr">
                    <a:solidFill>
                      <a:srgbClr val="C00000"/>
                    </a:solidFill>
                  </a:tcPr>
                </a:tc>
                <a:tc>
                  <a:txBody>
                    <a:bodyPr wrap="square"/>
                    <a:lstStyle/>
                    <a:p>
                      <a:r>
                        <a:rPr sz="1500" b="1">
                          <a:solidFill>
                            <a:srgbClr val="FFFFFF"/>
                          </a:solidFill>
                          <a:latin typeface="Calibri"/>
                        </a:rPr>
                        <a:t>Concept</a:t>
                      </a:r>
                    </a:p>
                  </a:txBody>
                  <a:tcPr marL="91440" marR="91440" marT="27432" marB="27432" anchor="ctr">
                    <a:solidFill>
                      <a:srgbClr val="C00000"/>
                    </a:solidFill>
                  </a:tcPr>
                </a:tc>
                <a:tc>
                  <a:txBody>
                    <a:bodyPr wrap="square"/>
                    <a:lstStyle/>
                    <a:p>
                      <a:r>
                        <a:rPr sz="1500" b="1">
                          <a:solidFill>
                            <a:srgbClr val="FFFFFF"/>
                          </a:solidFill>
                          <a:latin typeface="Calibri"/>
                        </a:rPr>
                        <a:t>Used for</a:t>
                      </a:r>
                    </a:p>
                  </a:txBody>
                  <a:tcPr marL="91440" marR="91440" marT="27432" marB="27432" anchor="ctr">
                    <a:solidFill>
                      <a:srgbClr val="C00000"/>
                    </a:solidFill>
                  </a:tcPr>
                </a:tc>
              </a:tr>
              <a:tr h="548640">
                <a:tc>
                  <a:txBody>
                    <a:bodyPr wrap="square"/>
                    <a:lstStyle/>
                    <a:p>
                      <a:r>
                        <a:rPr sz="1500" b="1">
                          <a:solidFill>
                            <a:srgbClr val="C00000"/>
                          </a:solidFill>
                          <a:latin typeface="Calibri"/>
                        </a:rPr>
                        <a:t>1</a:t>
                      </a:r>
                    </a:p>
                  </a:txBody>
                  <a:tcPr marL="91440" marR="91440" marT="27432" marB="27432" anchor="ctr">
                    <a:solidFill>
                      <a:srgbClr val="F2F2F2"/>
                    </a:solidFill>
                  </a:tcPr>
                </a:tc>
                <a:tc>
                  <a:txBody>
                    <a:bodyPr wrap="square"/>
                    <a:lstStyle/>
                    <a:p>
                      <a:r>
                        <a:rPr sz="1500" b="1">
                          <a:solidFill>
                            <a:srgbClr val="262626"/>
                          </a:solidFill>
                          <a:latin typeface="Calibri"/>
                        </a:rPr>
                        <a:t>Tokenization</a:t>
                      </a:r>
                    </a:p>
                  </a:txBody>
                  <a:tcPr marL="91440" marR="91440" marT="27432" marB="27432" anchor="ctr">
                    <a:solidFill>
                      <a:srgbClr val="F2F2F2"/>
                    </a:solidFill>
                  </a:tcPr>
                </a:tc>
                <a:tc>
                  <a:txBody>
                    <a:bodyPr wrap="square"/>
                    <a:lstStyle/>
                    <a:p>
                      <a:r>
                        <a:rPr sz="1500" b="0">
                          <a:solidFill>
                            <a:srgbClr val="262626"/>
                          </a:solidFill>
                          <a:latin typeface="Calibri"/>
                        </a:rPr>
                        <a:t>Cleaning and splitting text</a:t>
                      </a:r>
                    </a:p>
                  </a:txBody>
                  <a:tcPr marL="91440" marR="91440" marT="27432" marB="27432" anchor="ctr">
                    <a:solidFill>
                      <a:srgbClr val="F2F2F2"/>
                    </a:solidFill>
                  </a:tcPr>
                </a:tc>
              </a:tr>
              <a:tr h="548640">
                <a:tc>
                  <a:txBody>
                    <a:bodyPr wrap="square"/>
                    <a:lstStyle/>
                    <a:p>
                      <a:r>
                        <a:rPr sz="1500" b="1">
                          <a:solidFill>
                            <a:srgbClr val="C00000"/>
                          </a:solidFill>
                          <a:latin typeface="Calibri"/>
                        </a:rPr>
                        <a:t>2</a:t>
                      </a:r>
                    </a:p>
                  </a:txBody>
                  <a:tcPr marL="91440" marR="91440" marT="27432" marB="27432" anchor="ctr">
                    <a:solidFill>
                      <a:srgbClr val="FFFFFF"/>
                    </a:solidFill>
                  </a:tcPr>
                </a:tc>
                <a:tc>
                  <a:txBody>
                    <a:bodyPr wrap="square"/>
                    <a:lstStyle/>
                    <a:p>
                      <a:r>
                        <a:rPr sz="1500" b="1">
                          <a:solidFill>
                            <a:srgbClr val="262626"/>
                          </a:solidFill>
                          <a:latin typeface="Calibri"/>
                        </a:rPr>
                        <a:t>Stopword removal</a:t>
                      </a:r>
                    </a:p>
                  </a:txBody>
                  <a:tcPr marL="91440" marR="91440" marT="27432" marB="27432" anchor="ctr">
                    <a:solidFill>
                      <a:srgbClr val="FFFFFF"/>
                    </a:solidFill>
                  </a:tcPr>
                </a:tc>
                <a:tc>
                  <a:txBody>
                    <a:bodyPr wrap="square"/>
                    <a:lstStyle/>
                    <a:p>
                      <a:r>
                        <a:rPr sz="1500" b="0">
                          <a:solidFill>
                            <a:srgbClr val="262626"/>
                          </a:solidFill>
                          <a:latin typeface="Calibri"/>
                        </a:rPr>
                        <a:t>Better comparison</a:t>
                      </a:r>
                    </a:p>
                  </a:txBody>
                  <a:tcPr marL="91440" marR="91440" marT="27432" marB="27432" anchor="ctr">
                    <a:solidFill>
                      <a:srgbClr val="FFFFFF"/>
                    </a:solidFill>
                  </a:tcPr>
                </a:tc>
              </a:tr>
              <a:tr h="548640">
                <a:tc>
                  <a:txBody>
                    <a:bodyPr wrap="square"/>
                    <a:lstStyle/>
                    <a:p>
                      <a:r>
                        <a:rPr sz="1500" b="1">
                          <a:solidFill>
                            <a:srgbClr val="C00000"/>
                          </a:solidFill>
                          <a:latin typeface="Calibri"/>
                        </a:rPr>
                        <a:t>3</a:t>
                      </a:r>
                    </a:p>
                  </a:txBody>
                  <a:tcPr marL="91440" marR="91440" marT="27432" marB="27432" anchor="ctr">
                    <a:solidFill>
                      <a:srgbClr val="F2F2F2"/>
                    </a:solidFill>
                  </a:tcPr>
                </a:tc>
                <a:tc>
                  <a:txBody>
                    <a:bodyPr wrap="square"/>
                    <a:lstStyle/>
                    <a:p>
                      <a:r>
                        <a:rPr sz="1500" b="1">
                          <a:solidFill>
                            <a:srgbClr val="262626"/>
                          </a:solidFill>
                          <a:latin typeface="Calibri"/>
                        </a:rPr>
                        <a:t>Hashing</a:t>
                      </a:r>
                    </a:p>
                  </a:txBody>
                  <a:tcPr marL="91440" marR="91440" marT="27432" marB="27432" anchor="ctr">
                    <a:solidFill>
                      <a:srgbClr val="F2F2F2"/>
                    </a:solidFill>
                  </a:tcPr>
                </a:tc>
                <a:tc>
                  <a:txBody>
                    <a:bodyPr wrap="square"/>
                    <a:lstStyle/>
                    <a:p>
                      <a:r>
                        <a:rPr sz="1500" b="0">
                          <a:solidFill>
                            <a:srgbClr val="262626"/>
                          </a:solidFill>
                          <a:latin typeface="Calibri"/>
                        </a:rPr>
                        <a:t>Fast comparison</a:t>
                      </a:r>
                    </a:p>
                  </a:txBody>
                  <a:tcPr marL="91440" marR="91440" marT="27432" marB="27432" anchor="ctr">
                    <a:solidFill>
                      <a:srgbClr val="F2F2F2"/>
                    </a:solidFill>
                  </a:tcPr>
                </a:tc>
              </a:tr>
              <a:tr h="548640">
                <a:tc>
                  <a:txBody>
                    <a:bodyPr wrap="square"/>
                    <a:lstStyle/>
                    <a:p>
                      <a:r>
                        <a:rPr sz="1500" b="1">
                          <a:solidFill>
                            <a:srgbClr val="C00000"/>
                          </a:solidFill>
                          <a:latin typeface="Calibri"/>
                        </a:rPr>
                        <a:t>4</a:t>
                      </a:r>
                    </a:p>
                  </a:txBody>
                  <a:tcPr marL="91440" marR="91440" marT="27432" marB="27432" anchor="ctr">
                    <a:solidFill>
                      <a:srgbClr val="FFFFFF"/>
                    </a:solidFill>
                  </a:tcPr>
                </a:tc>
                <a:tc>
                  <a:txBody>
                    <a:bodyPr wrap="square"/>
                    <a:lstStyle/>
                    <a:p>
                      <a:r>
                        <a:rPr sz="1500" b="1">
                          <a:solidFill>
                            <a:srgbClr val="262626"/>
                          </a:solidFill>
                          <a:latin typeface="Calibri"/>
                        </a:rPr>
                        <a:t>Rolling hash</a:t>
                      </a:r>
                    </a:p>
                  </a:txBody>
                  <a:tcPr marL="91440" marR="91440" marT="27432" marB="27432" anchor="ctr">
                    <a:solidFill>
                      <a:srgbClr val="FFFFFF"/>
                    </a:solidFill>
                  </a:tcPr>
                </a:tc>
                <a:tc>
                  <a:txBody>
                    <a:bodyPr wrap="square"/>
                    <a:lstStyle/>
                    <a:p>
                      <a:r>
                        <a:rPr sz="1500" b="0">
                          <a:solidFill>
                            <a:srgbClr val="262626"/>
                          </a:solidFill>
                          <a:latin typeface="Calibri"/>
                        </a:rPr>
                        <a:t>Hashing 3-word shingles</a:t>
                      </a:r>
                    </a:p>
                  </a:txBody>
                  <a:tcPr marL="91440" marR="91440" marT="27432" marB="27432" anchor="ctr">
                    <a:solidFill>
                      <a:srgbClr val="FFFFFF"/>
                    </a:solidFill>
                  </a:tcPr>
                </a:tc>
              </a:tr>
              <a:tr h="548640">
                <a:tc>
                  <a:txBody>
                    <a:bodyPr wrap="square"/>
                    <a:lstStyle/>
                    <a:p>
                      <a:r>
                        <a:rPr sz="1500" b="1">
                          <a:solidFill>
                            <a:srgbClr val="C00000"/>
                          </a:solidFill>
                          <a:latin typeface="Calibri"/>
                        </a:rPr>
                        <a:t>5</a:t>
                      </a:r>
                    </a:p>
                  </a:txBody>
                  <a:tcPr marL="91440" marR="91440" marT="27432" marB="27432" anchor="ctr">
                    <a:solidFill>
                      <a:srgbClr val="F2F2F2"/>
                    </a:solidFill>
                  </a:tcPr>
                </a:tc>
                <a:tc>
                  <a:txBody>
                    <a:bodyPr wrap="square"/>
                    <a:lstStyle/>
                    <a:p>
                      <a:r>
                        <a:rPr sz="1500" b="1">
                          <a:solidFill>
                            <a:srgbClr val="262626"/>
                          </a:solidFill>
                          <a:latin typeface="Calibri"/>
                        </a:rPr>
                        <a:t>Jaccard similarity</a:t>
                      </a:r>
                    </a:p>
                  </a:txBody>
                  <a:tcPr marL="91440" marR="91440" marT="27432" marB="27432" anchor="ctr">
                    <a:solidFill>
                      <a:srgbClr val="F2F2F2"/>
                    </a:solidFill>
                  </a:tcPr>
                </a:tc>
                <a:tc>
                  <a:txBody>
                    <a:bodyPr wrap="square"/>
                    <a:lstStyle/>
                    <a:p>
                      <a:r>
                        <a:rPr sz="1500" b="0">
                          <a:solidFill>
                            <a:srgbClr val="262626"/>
                          </a:solidFill>
                          <a:latin typeface="Calibri"/>
                        </a:rPr>
                        <a:t>Duplicate detection</a:t>
                      </a:r>
                    </a:p>
                  </a:txBody>
                  <a:tcPr marL="91440" marR="91440" marT="27432" marB="27432" anchor="ctr">
                    <a:solidFill>
                      <a:srgbClr val="F2F2F2"/>
                    </a:solidFill>
                  </a:tcPr>
                </a:tc>
              </a:tr>
              <a:tr h="548640">
                <a:tc>
                  <a:txBody>
                    <a:bodyPr wrap="square"/>
                    <a:lstStyle/>
                    <a:p>
                      <a:r>
                        <a:rPr sz="1500" b="1">
                          <a:solidFill>
                            <a:srgbClr val="C00000"/>
                          </a:solidFill>
                          <a:latin typeface="Calibri"/>
                        </a:rPr>
                        <a:t>6</a:t>
                      </a:r>
                    </a:p>
                  </a:txBody>
                  <a:tcPr marL="91440" marR="91440" marT="27432" marB="27432" anchor="ctr">
                    <a:solidFill>
                      <a:srgbClr val="FFFFFF"/>
                    </a:solidFill>
                  </a:tcPr>
                </a:tc>
                <a:tc>
                  <a:txBody>
                    <a:bodyPr wrap="square"/>
                    <a:lstStyle/>
                    <a:p>
                      <a:r>
                        <a:rPr sz="1500" b="1">
                          <a:solidFill>
                            <a:srgbClr val="262626"/>
                          </a:solidFill>
                          <a:latin typeface="Calibri"/>
                        </a:rPr>
                        <a:t>MinHash</a:t>
                      </a:r>
                    </a:p>
                  </a:txBody>
                  <a:tcPr marL="91440" marR="91440" marT="27432" marB="27432" anchor="ctr">
                    <a:solidFill>
                      <a:srgbClr val="FFFFFF"/>
                    </a:solidFill>
                  </a:tcPr>
                </a:tc>
                <a:tc>
                  <a:txBody>
                    <a:bodyPr wrap="square"/>
                    <a:lstStyle/>
                    <a:p>
                      <a:r>
                        <a:rPr sz="1500" b="0">
                          <a:solidFill>
                            <a:srgbClr val="262626"/>
                          </a:solidFill>
                          <a:latin typeface="Calibri"/>
                        </a:rPr>
                        <a:t>Similarity estimation</a:t>
                      </a:r>
                    </a:p>
                  </a:txBody>
                  <a:tcPr marL="91440" marR="91440" marT="27432" marB="27432" anchor="ctr">
                    <a:solidFill>
                      <a:srgbClr val="FFFFFF"/>
                    </a:solidFill>
                  </a:tcPr>
                </a:tc>
              </a:tr>
              <a:tr h="548640">
                <a:tc>
                  <a:txBody>
                    <a:bodyPr wrap="square"/>
                    <a:lstStyle/>
                    <a:p>
                      <a:r>
                        <a:rPr sz="1500" b="1">
                          <a:solidFill>
                            <a:srgbClr val="C00000"/>
                          </a:solidFill>
                          <a:latin typeface="Calibri"/>
                        </a:rPr>
                        <a:t>7</a:t>
                      </a:r>
                    </a:p>
                  </a:txBody>
                  <a:tcPr marL="91440" marR="91440" marT="27432" marB="27432" anchor="ctr">
                    <a:solidFill>
                      <a:srgbClr val="F2F2F2"/>
                    </a:solidFill>
                  </a:tcPr>
                </a:tc>
                <a:tc>
                  <a:txBody>
                    <a:bodyPr wrap="square"/>
                    <a:lstStyle/>
                    <a:p>
                      <a:r>
                        <a:rPr sz="1500" b="1">
                          <a:solidFill>
                            <a:srgbClr val="262626"/>
                          </a:solidFill>
                          <a:latin typeface="Calibri"/>
                        </a:rPr>
                        <a:t>Union-Find</a:t>
                      </a:r>
                    </a:p>
                  </a:txBody>
                  <a:tcPr marL="91440" marR="91440" marT="27432" marB="27432" anchor="ctr">
                    <a:solidFill>
                      <a:srgbClr val="F2F2F2"/>
                    </a:solidFill>
                  </a:tcPr>
                </a:tc>
                <a:tc>
                  <a:txBody>
                    <a:bodyPr wrap="square"/>
                    <a:lstStyle/>
                    <a:p>
                      <a:r>
                        <a:rPr sz="1500" b="0">
                          <a:solidFill>
                            <a:srgbClr val="262626"/>
                          </a:solidFill>
                          <a:latin typeface="Calibri"/>
                        </a:rPr>
                        <a:t>Clustering</a:t>
                      </a:r>
                    </a:p>
                  </a:txBody>
                  <a:tcPr marL="91440" marR="91440" marT="27432" marB="27432" anchor="ctr">
                    <a:solidFill>
                      <a:srgbClr val="F2F2F2"/>
                    </a:solidFill>
                  </a:tcPr>
                </a:tc>
              </a:tr>
            </a:tbl>
          </a:graphicData>
        </a:graphic>
      </p:graphicFrame>
      <p:graphicFrame>
        <p:nvGraphicFramePr>
          <p:cNvPr id="4" name="Table 3"/>
          <p:cNvGraphicFramePr>
            <a:graphicFrameLocks noGrp="1"/>
          </p:cNvGraphicFramePr>
          <p:nvPr/>
        </p:nvGraphicFramePr>
        <p:xfrm>
          <a:off x="6217920" y="1188720"/>
          <a:ext cx="5257800" cy="3840480"/>
        </p:xfrm>
        <a:graphic>
          <a:graphicData uri="http://schemas.openxmlformats.org/drawingml/2006/table">
            <a:tbl>
              <a:tblPr firstRow="0" bandRow="0"/>
              <a:tblGrid>
                <a:gridCol w="457200"/>
                <a:gridCol w="2240280"/>
                <a:gridCol w="2560320"/>
              </a:tblGrid>
              <a:tr h="548640">
                <a:tc>
                  <a:txBody>
                    <a:bodyPr wrap="square"/>
                    <a:lstStyle/>
                    <a:p>
                      <a:r>
                        <a:rPr sz="1500" b="1">
                          <a:solidFill>
                            <a:srgbClr val="FFFFFF"/>
                          </a:solidFill>
                          <a:latin typeface="Calibri"/>
                        </a:rPr>
                        <a:t>#</a:t>
                      </a:r>
                    </a:p>
                  </a:txBody>
                  <a:tcPr marL="91440" marR="91440" marT="27432" marB="27432" anchor="ctr">
                    <a:solidFill>
                      <a:srgbClr val="C00000"/>
                    </a:solidFill>
                  </a:tcPr>
                </a:tc>
                <a:tc>
                  <a:txBody>
                    <a:bodyPr wrap="square"/>
                    <a:lstStyle/>
                    <a:p>
                      <a:r>
                        <a:rPr sz="1500" b="1">
                          <a:solidFill>
                            <a:srgbClr val="FFFFFF"/>
                          </a:solidFill>
                          <a:latin typeface="Calibri"/>
                        </a:rPr>
                        <a:t>Concept</a:t>
                      </a:r>
                    </a:p>
                  </a:txBody>
                  <a:tcPr marL="91440" marR="91440" marT="27432" marB="27432" anchor="ctr">
                    <a:solidFill>
                      <a:srgbClr val="C00000"/>
                    </a:solidFill>
                  </a:tcPr>
                </a:tc>
                <a:tc>
                  <a:txBody>
                    <a:bodyPr wrap="square"/>
                    <a:lstStyle/>
                    <a:p>
                      <a:r>
                        <a:rPr sz="1500" b="1">
                          <a:solidFill>
                            <a:srgbClr val="FFFFFF"/>
                          </a:solidFill>
                          <a:latin typeface="Calibri"/>
                        </a:rPr>
                        <a:t>Used for</a:t>
                      </a:r>
                    </a:p>
                  </a:txBody>
                  <a:tcPr marL="91440" marR="91440" marT="27432" marB="27432" anchor="ctr">
                    <a:solidFill>
                      <a:srgbClr val="C00000"/>
                    </a:solidFill>
                  </a:tcPr>
                </a:tc>
              </a:tr>
              <a:tr h="548640">
                <a:tc>
                  <a:txBody>
                    <a:bodyPr wrap="square"/>
                    <a:lstStyle/>
                    <a:p>
                      <a:r>
                        <a:rPr sz="1500" b="1">
                          <a:solidFill>
                            <a:srgbClr val="C00000"/>
                          </a:solidFill>
                          <a:latin typeface="Calibri"/>
                        </a:rPr>
                        <a:t>8</a:t>
                      </a:r>
                    </a:p>
                  </a:txBody>
                  <a:tcPr marL="91440" marR="91440" marT="27432" marB="27432" anchor="ctr">
                    <a:solidFill>
                      <a:srgbClr val="F2F2F2"/>
                    </a:solidFill>
                  </a:tcPr>
                </a:tc>
                <a:tc>
                  <a:txBody>
                    <a:bodyPr wrap="square"/>
                    <a:lstStyle/>
                    <a:p>
                      <a:r>
                        <a:rPr sz="1500" b="1">
                          <a:solidFill>
                            <a:srgbClr val="262626"/>
                          </a:solidFill>
                          <a:latin typeface="Calibri"/>
                        </a:rPr>
                        <a:t>Max Heap</a:t>
                      </a:r>
                    </a:p>
                  </a:txBody>
                  <a:tcPr marL="91440" marR="91440" marT="27432" marB="27432" anchor="ctr">
                    <a:solidFill>
                      <a:srgbClr val="F2F2F2"/>
                    </a:solidFill>
                  </a:tcPr>
                </a:tc>
                <a:tc>
                  <a:txBody>
                    <a:bodyPr wrap="square"/>
                    <a:lstStyle/>
                    <a:p>
                      <a:r>
                        <a:rPr sz="1500" b="0">
                          <a:solidFill>
                            <a:srgbClr val="262626"/>
                          </a:solidFill>
                          <a:latin typeface="Calibri"/>
                        </a:rPr>
                        <a:t>Ranking</a:t>
                      </a:r>
                    </a:p>
                  </a:txBody>
                  <a:tcPr marL="91440" marR="91440" marT="27432" marB="27432" anchor="ctr">
                    <a:solidFill>
                      <a:srgbClr val="F2F2F2"/>
                    </a:solidFill>
                  </a:tcPr>
                </a:tc>
              </a:tr>
              <a:tr h="548640">
                <a:tc>
                  <a:txBody>
                    <a:bodyPr wrap="square"/>
                    <a:lstStyle/>
                    <a:p>
                      <a:r>
                        <a:rPr sz="1500" b="1">
                          <a:solidFill>
                            <a:srgbClr val="C00000"/>
                          </a:solidFill>
                          <a:latin typeface="Calibri"/>
                        </a:rPr>
                        <a:t>9</a:t>
                      </a:r>
                    </a:p>
                  </a:txBody>
                  <a:tcPr marL="91440" marR="91440" marT="27432" marB="27432" anchor="ctr">
                    <a:solidFill>
                      <a:srgbClr val="FFFFFF"/>
                    </a:solidFill>
                  </a:tcPr>
                </a:tc>
                <a:tc>
                  <a:txBody>
                    <a:bodyPr wrap="square"/>
                    <a:lstStyle/>
                    <a:p>
                      <a:r>
                        <a:rPr sz="1500" b="1">
                          <a:solidFill>
                            <a:srgbClr val="262626"/>
                          </a:solidFill>
                          <a:latin typeface="Calibri"/>
                        </a:rPr>
                        <a:t>Trie</a:t>
                      </a:r>
                    </a:p>
                  </a:txBody>
                  <a:tcPr marL="91440" marR="91440" marT="27432" marB="27432" anchor="ctr">
                    <a:solidFill>
                      <a:srgbClr val="FFFFFF"/>
                    </a:solidFill>
                  </a:tcPr>
                </a:tc>
                <a:tc>
                  <a:txBody>
                    <a:bodyPr wrap="square"/>
                    <a:lstStyle/>
                    <a:p>
                      <a:r>
                        <a:rPr sz="1500" b="0">
                          <a:solidFill>
                            <a:srgbClr val="262626"/>
                          </a:solidFill>
                          <a:latin typeface="Calibri"/>
                        </a:rPr>
                        <a:t>Prefix search</a:t>
                      </a:r>
                    </a:p>
                  </a:txBody>
                  <a:tcPr marL="91440" marR="91440" marT="27432" marB="27432" anchor="ctr">
                    <a:solidFill>
                      <a:srgbClr val="FFFFFF"/>
                    </a:solidFill>
                  </a:tcPr>
                </a:tc>
              </a:tr>
              <a:tr h="548640">
                <a:tc>
                  <a:txBody>
                    <a:bodyPr wrap="square"/>
                    <a:lstStyle/>
                    <a:p>
                      <a:r>
                        <a:rPr sz="1500" b="1">
                          <a:solidFill>
                            <a:srgbClr val="C00000"/>
                          </a:solidFill>
                          <a:latin typeface="Calibri"/>
                        </a:rPr>
                        <a:t>10</a:t>
                      </a:r>
                    </a:p>
                  </a:txBody>
                  <a:tcPr marL="91440" marR="91440" marT="27432" marB="27432" anchor="ctr">
                    <a:solidFill>
                      <a:srgbClr val="F2F2F2"/>
                    </a:solidFill>
                  </a:tcPr>
                </a:tc>
                <a:tc>
                  <a:txBody>
                    <a:bodyPr wrap="square"/>
                    <a:lstStyle/>
                    <a:p>
                      <a:r>
                        <a:rPr sz="1500" b="1">
                          <a:solidFill>
                            <a:srgbClr val="262626"/>
                          </a:solidFill>
                          <a:latin typeface="Calibri"/>
                        </a:rPr>
                        <a:t>KMP</a:t>
                      </a:r>
                    </a:p>
                  </a:txBody>
                  <a:tcPr marL="91440" marR="91440" marT="27432" marB="27432" anchor="ctr">
                    <a:solidFill>
                      <a:srgbClr val="F2F2F2"/>
                    </a:solidFill>
                  </a:tcPr>
                </a:tc>
                <a:tc>
                  <a:txBody>
                    <a:bodyPr wrap="square"/>
                    <a:lstStyle/>
                    <a:p>
                      <a:r>
                        <a:rPr sz="1500" b="0">
                          <a:solidFill>
                            <a:srgbClr val="262626"/>
                          </a:solidFill>
                          <a:latin typeface="Calibri"/>
                        </a:rPr>
                        <a:t>Search fallback</a:t>
                      </a:r>
                    </a:p>
                  </a:txBody>
                  <a:tcPr marL="91440" marR="91440" marT="27432" marB="27432" anchor="ctr">
                    <a:solidFill>
                      <a:srgbClr val="F2F2F2"/>
                    </a:solidFill>
                  </a:tcPr>
                </a:tc>
              </a:tr>
              <a:tr h="548640">
                <a:tc>
                  <a:txBody>
                    <a:bodyPr wrap="square"/>
                    <a:lstStyle/>
                    <a:p>
                      <a:r>
                        <a:rPr sz="1500" b="1">
                          <a:solidFill>
                            <a:srgbClr val="C00000"/>
                          </a:solidFill>
                          <a:latin typeface="Calibri"/>
                        </a:rPr>
                        <a:t>11</a:t>
                      </a:r>
                    </a:p>
                  </a:txBody>
                  <a:tcPr marL="91440" marR="91440" marT="27432" marB="27432" anchor="ctr">
                    <a:solidFill>
                      <a:srgbClr val="FFFFFF"/>
                    </a:solidFill>
                  </a:tcPr>
                </a:tc>
                <a:tc>
                  <a:txBody>
                    <a:bodyPr wrap="square"/>
                    <a:lstStyle/>
                    <a:p>
                      <a:r>
                        <a:rPr sz="1500" b="1">
                          <a:solidFill>
                            <a:srgbClr val="262626"/>
                          </a:solidFill>
                          <a:latin typeface="Calibri"/>
                        </a:rPr>
                        <a:t>Dynamic Programming</a:t>
                      </a:r>
                    </a:p>
                  </a:txBody>
                  <a:tcPr marL="91440" marR="91440" marT="27432" marB="27432" anchor="ctr">
                    <a:solidFill>
                      <a:srgbClr val="FFFFFF"/>
                    </a:solidFill>
                  </a:tcPr>
                </a:tc>
                <a:tc>
                  <a:txBody>
                    <a:bodyPr wrap="square"/>
                    <a:lstStyle/>
                    <a:p>
                      <a:r>
                        <a:rPr sz="1500" b="0">
                          <a:solidFill>
                            <a:srgbClr val="262626"/>
                          </a:solidFill>
                          <a:latin typeface="Calibri"/>
                        </a:rPr>
                        <a:t>Front page planner</a:t>
                      </a:r>
                    </a:p>
                  </a:txBody>
                  <a:tcPr marL="91440" marR="91440" marT="27432" marB="27432" anchor="ctr">
                    <a:solidFill>
                      <a:srgbClr val="FFFFFF"/>
                    </a:solidFill>
                  </a:tcPr>
                </a:tc>
              </a:tr>
              <a:tr h="548640">
                <a:tc>
                  <a:txBody>
                    <a:bodyPr wrap="square"/>
                    <a:lstStyle/>
                    <a:p>
                      <a:r>
                        <a:rPr sz="1500" b="1">
                          <a:solidFill>
                            <a:srgbClr val="C00000"/>
                          </a:solidFill>
                          <a:latin typeface="Calibri"/>
                        </a:rPr>
                        <a:t>12</a:t>
                      </a:r>
                    </a:p>
                  </a:txBody>
                  <a:tcPr marL="91440" marR="91440" marT="27432" marB="27432" anchor="ctr">
                    <a:solidFill>
                      <a:srgbClr val="F2F2F2"/>
                    </a:solidFill>
                  </a:tcPr>
                </a:tc>
                <a:tc>
                  <a:txBody>
                    <a:bodyPr wrap="square"/>
                    <a:lstStyle/>
                    <a:p>
                      <a:r>
                        <a:rPr sz="1500" b="1">
                          <a:solidFill>
                            <a:srgbClr val="262626"/>
                          </a:solidFill>
                          <a:latin typeface="Calibri"/>
                        </a:rPr>
                        <a:t>Max Flow</a:t>
                      </a:r>
                    </a:p>
                  </a:txBody>
                  <a:tcPr marL="91440" marR="91440" marT="27432" marB="27432" anchor="ctr">
                    <a:solidFill>
                      <a:srgbClr val="F2F2F2"/>
                    </a:solidFill>
                  </a:tcPr>
                </a:tc>
                <a:tc>
                  <a:txBody>
                    <a:bodyPr wrap="square"/>
                    <a:lstStyle/>
                    <a:p>
                      <a:r>
                        <a:rPr sz="1500" b="0">
                          <a:solidFill>
                            <a:srgbClr val="262626"/>
                          </a:solidFill>
                          <a:latin typeface="Calibri"/>
                        </a:rPr>
                        <a:t>Editor assignment</a:t>
                      </a:r>
                    </a:p>
                  </a:txBody>
                  <a:tcPr marL="91440" marR="91440" marT="27432" marB="27432" anchor="ctr">
                    <a:solidFill>
                      <a:srgbClr val="F2F2F2"/>
                    </a:solidFill>
                  </a:tcPr>
                </a:tc>
              </a:tr>
              <a:tr h="548640">
                <a:tc>
                  <a:txBody>
                    <a:bodyPr wrap="square"/>
                    <a:lstStyle/>
                    <a:p>
                      <a:r>
                        <a:rPr sz="1500" b="1">
                          <a:solidFill>
                            <a:srgbClr val="C00000"/>
                          </a:solidFill>
                          <a:latin typeface="Calibri"/>
                        </a:rPr>
                        <a:t>13</a:t>
                      </a:r>
                    </a:p>
                  </a:txBody>
                  <a:tcPr marL="91440" marR="91440" marT="27432" marB="27432" anchor="ctr">
                    <a:solidFill>
                      <a:srgbClr val="FFFFFF"/>
                    </a:solidFill>
                  </a:tcPr>
                </a:tc>
                <a:tc>
                  <a:txBody>
                    <a:bodyPr wrap="square"/>
                    <a:lstStyle/>
                    <a:p>
                      <a:r>
                        <a:rPr sz="1500" b="1">
                          <a:solidFill>
                            <a:srgbClr val="262626"/>
                          </a:solidFill>
                          <a:latin typeface="Calibri"/>
                        </a:rPr>
                        <a:t>Greedy Set Cover</a:t>
                      </a:r>
                    </a:p>
                  </a:txBody>
                  <a:tcPr marL="91440" marR="91440" marT="27432" marB="27432" anchor="ctr">
                    <a:solidFill>
                      <a:srgbClr val="FFFFFF"/>
                    </a:solidFill>
                  </a:tcPr>
                </a:tc>
                <a:tc>
                  <a:txBody>
                    <a:bodyPr wrap="square"/>
                    <a:lstStyle/>
                    <a:p>
                      <a:r>
                        <a:rPr sz="1500" b="0">
                          <a:solidFill>
                            <a:srgbClr val="262626"/>
                          </a:solidFill>
                          <a:latin typeface="Calibri"/>
                        </a:rPr>
                        <a:t>Publisher coverage</a:t>
                      </a:r>
                    </a:p>
                  </a:txBody>
                  <a:tcPr marL="91440" marR="91440" marT="27432" marB="27432" anchor="ctr">
                    <a:solidFill>
                      <a:srgbClr val="FFFFFF"/>
                    </a:solidFill>
                  </a:tcPr>
                </a:tc>
              </a:tr>
            </a:tbl>
          </a:graphicData>
        </a:graphic>
      </p:graphicFrame>
      <p:sp>
        <p:nvSpPr>
          <p:cNvPr id="5" name="TextBox 4"/>
          <p:cNvSpPr txBox="1"/>
          <p:nvPr/>
        </p:nvSpPr>
        <p:spPr>
          <a:xfrm>
            <a:off x="6217920" y="5120640"/>
            <a:ext cx="5257800" cy="548640"/>
          </a:xfrm>
          <a:prstGeom prst="rect">
            <a:avLst/>
          </a:prstGeom>
          <a:noFill/>
        </p:spPr>
        <p:txBody>
          <a:bodyPr wrap="square" lIns="0" rIns="0" tIns="0" bIns="0" anchor="t">
            <a:spAutoFit/>
          </a:bodyPr>
          <a:lstStyle/>
          <a:p>
            <a:pPr algn="l">
              <a:spcAft>
                <a:spcPts val="600"/>
              </a:spcAft>
            </a:pPr>
            <a:r>
              <a:rPr sz="1400" b="0" i="1">
                <a:solidFill>
                  <a:srgbClr val="595959"/>
                </a:solidFill>
                <a:latin typeface="Calibri"/>
              </a:rPr>
              <a:t>13 techniques, each in its own module and covered by unit tests.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2854452" y="219456"/>
            <a:ext cx="6483096" cy="566928"/>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600" b="1">
                <a:solidFill>
                  <a:srgbClr val="FFFFFF"/>
                </a:solidFill>
                <a:latin typeface="Calibri"/>
              </a:rPr>
              <a:t>Working of Key Algorithms (1/2)</a:t>
            </a:r>
            <a:endParaRPr lang="en-US"/>
          </a:p>
        </p:txBody>
      </p:sp>
      <p:sp>
        <p:nvSpPr>
          <p:cNvPr id="3" name="Rounded Rectangle 2"/>
          <p:cNvSpPr/>
          <p:nvPr/>
        </p:nvSpPr>
        <p:spPr>
          <a:xfrm>
            <a:off x="731520" y="1188720"/>
            <a:ext cx="5257800" cy="48920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1325880"/>
            <a:ext cx="4709160" cy="457200"/>
          </a:xfrm>
          <a:prstGeom prst="rect">
            <a:avLst/>
          </a:prstGeom>
          <a:noFill/>
        </p:spPr>
        <p:txBody>
          <a:bodyPr wrap="square" lIns="0" rIns="0" tIns="0" bIns="0" anchor="t">
            <a:spAutoFit/>
          </a:bodyPr>
          <a:lstStyle/>
          <a:p>
            <a:pPr algn="l">
              <a:spcAft>
                <a:spcPts val="600"/>
              </a:spcAft>
            </a:pPr>
            <a:r>
              <a:rPr sz="2000" b="1" i="0">
                <a:solidFill>
                  <a:srgbClr val="C00000"/>
                </a:solidFill>
                <a:latin typeface="Calibri"/>
              </a:rPr>
              <a:t>Duplicate Detection</a:t>
            </a:r>
          </a:p>
        </p:txBody>
      </p:sp>
      <p:sp>
        <p:nvSpPr>
          <p:cNvPr id="5" name="Oval 4"/>
          <p:cNvSpPr/>
          <p:nvPr/>
        </p:nvSpPr>
        <p:spPr>
          <a:xfrm>
            <a:off x="1005840" y="1920240"/>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1</a:t>
            </a:r>
          </a:p>
        </p:txBody>
      </p:sp>
      <p:sp>
        <p:nvSpPr>
          <p:cNvPr id="6" name="TextBox 5"/>
          <p:cNvSpPr txBox="1"/>
          <p:nvPr/>
        </p:nvSpPr>
        <p:spPr>
          <a:xfrm>
            <a:off x="1600200" y="1901952"/>
            <a:ext cx="4069080" cy="822960"/>
          </a:xfrm>
          <a:prstGeom prst="rect">
            <a:avLst/>
          </a:prstGeom>
          <a:noFill/>
        </p:spPr>
        <p:txBody>
          <a:bodyPr wrap="square" lIns="0" rIns="0" tIns="0" bIns="0" anchor="t">
            <a:spAutoFit/>
          </a:bodyPr>
          <a:lstStyle/>
          <a:p>
            <a:pPr algn="l">
              <a:spcAft>
                <a:spcPts val="600"/>
              </a:spcAft>
            </a:pPr>
            <a:r>
              <a:rPr sz="1500" b="0" i="0">
                <a:solidFill>
                  <a:srgbClr val="262626"/>
                </a:solidFill>
                <a:latin typeface="Calibri"/>
              </a:rPr>
              <a:t>Split text into 3-word shingles, hashed with a rolling hash</a:t>
            </a:r>
          </a:p>
        </p:txBody>
      </p:sp>
      <p:sp>
        <p:nvSpPr>
          <p:cNvPr id="7" name="Oval 6"/>
          <p:cNvSpPr/>
          <p:nvPr/>
        </p:nvSpPr>
        <p:spPr>
          <a:xfrm>
            <a:off x="1005840" y="2834640"/>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2</a:t>
            </a:r>
          </a:p>
        </p:txBody>
      </p:sp>
      <p:sp>
        <p:nvSpPr>
          <p:cNvPr id="8" name="TextBox 7"/>
          <p:cNvSpPr txBox="1"/>
          <p:nvPr/>
        </p:nvSpPr>
        <p:spPr>
          <a:xfrm>
            <a:off x="1600200" y="2816352"/>
            <a:ext cx="4069080" cy="822960"/>
          </a:xfrm>
          <a:prstGeom prst="rect">
            <a:avLst/>
          </a:prstGeom>
          <a:noFill/>
        </p:spPr>
        <p:txBody>
          <a:bodyPr wrap="square" lIns="0" rIns="0" tIns="0" bIns="0" anchor="t">
            <a:spAutoFit/>
          </a:bodyPr>
          <a:lstStyle/>
          <a:p>
            <a:pPr algn="l">
              <a:spcAft>
                <a:spcPts val="600"/>
              </a:spcAft>
            </a:pPr>
            <a:r>
              <a:rPr sz="1500" b="0" i="0">
                <a:solidFill>
                  <a:srgbClr val="262626"/>
                </a:solidFill>
                <a:latin typeface="Calibri"/>
              </a:rPr>
              <a:t>Jaccard = common shingles ÷ all shingles</a:t>
            </a:r>
          </a:p>
        </p:txBody>
      </p:sp>
      <p:sp>
        <p:nvSpPr>
          <p:cNvPr id="9" name="Oval 8"/>
          <p:cNvSpPr/>
          <p:nvPr/>
        </p:nvSpPr>
        <p:spPr>
          <a:xfrm>
            <a:off x="1005840" y="3749039"/>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3</a:t>
            </a:r>
          </a:p>
        </p:txBody>
      </p:sp>
      <p:sp>
        <p:nvSpPr>
          <p:cNvPr id="10" name="TextBox 9"/>
          <p:cNvSpPr txBox="1"/>
          <p:nvPr/>
        </p:nvSpPr>
        <p:spPr>
          <a:xfrm>
            <a:off x="1600200" y="3730752"/>
            <a:ext cx="4069080" cy="822960"/>
          </a:xfrm>
          <a:prstGeom prst="rect">
            <a:avLst/>
          </a:prstGeom>
          <a:noFill/>
        </p:spPr>
        <p:txBody>
          <a:bodyPr wrap="square" lIns="0" rIns="0" tIns="0" bIns="0" anchor="t">
            <a:spAutoFit/>
          </a:bodyPr>
          <a:lstStyle/>
          <a:p>
            <a:pPr algn="l">
              <a:spcAft>
                <a:spcPts val="600"/>
              </a:spcAft>
            </a:pPr>
            <a:r>
              <a:rPr sz="1500" b="0" i="0">
                <a:solidFill>
                  <a:srgbClr val="262626"/>
                </a:solidFill>
                <a:latin typeface="Calibri"/>
              </a:rPr>
              <a:t>If Jaccard ≥ 0.60, the later article is a duplicate</a:t>
            </a:r>
          </a:p>
        </p:txBody>
      </p:sp>
      <p:sp>
        <p:nvSpPr>
          <p:cNvPr id="11" name="Rounded Rectangle 10"/>
          <p:cNvSpPr/>
          <p:nvPr/>
        </p:nvSpPr>
        <p:spPr>
          <a:xfrm>
            <a:off x="1005840" y="4754880"/>
            <a:ext cx="4709160" cy="1051560"/>
          </a:xfrm>
          <a:prstGeom prst="roundRect">
            <a:avLst>
              <a:gd name="adj" fmla="val 8000"/>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solidFill>
                  <a:srgbClr val="262626"/>
                </a:solidFill>
                <a:latin typeface="Calibri"/>
              </a:rPr>
              <a:t> Example: </a:t>
            </a:r>
            <a:r>
              <a:rPr sz="1400" b="0" i="0">
                <a:solidFill>
                  <a:srgbClr val="262626"/>
                </a:solidFill>
                <a:latin typeface="Calibri"/>
              </a:rPr>
              <a:t>Reuters vs Euronews copy (only "on Tuesday" added): </a:t>
            </a:r>
            <a:r>
              <a:rPr sz="1400" b="1" i="0">
                <a:solidFill>
                  <a:srgbClr val="C00000"/>
                </a:solidFill>
                <a:latin typeface="Calibri"/>
              </a:rPr>
              <a:t>87% → duplicate</a:t>
            </a:r>
          </a:p>
        </p:txBody>
      </p:sp>
      <p:sp>
        <p:nvSpPr>
          <p:cNvPr id="12" name="Rounded Rectangle 11"/>
          <p:cNvSpPr/>
          <p:nvPr/>
        </p:nvSpPr>
        <p:spPr>
          <a:xfrm>
            <a:off x="6217920" y="1188720"/>
            <a:ext cx="5257800" cy="48920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92240" y="1325880"/>
            <a:ext cx="4709160" cy="457200"/>
          </a:xfrm>
          <a:prstGeom prst="rect">
            <a:avLst/>
          </a:prstGeom>
          <a:noFill/>
        </p:spPr>
        <p:txBody>
          <a:bodyPr wrap="square" lIns="0" rIns="0" tIns="0" bIns="0" anchor="t">
            <a:spAutoFit/>
          </a:bodyPr>
          <a:lstStyle/>
          <a:p>
            <a:pPr algn="l">
              <a:spcAft>
                <a:spcPts val="600"/>
              </a:spcAft>
            </a:pPr>
            <a:r>
              <a:rPr sz="2000" b="1" i="0">
                <a:solidFill>
                  <a:srgbClr val="C00000"/>
                </a:solidFill>
                <a:latin typeface="Calibri"/>
              </a:rPr>
              <a:t>Story Clustering</a:t>
            </a:r>
          </a:p>
        </p:txBody>
      </p:sp>
      <p:sp>
        <p:nvSpPr>
          <p:cNvPr id="14" name="Oval 13"/>
          <p:cNvSpPr/>
          <p:nvPr/>
        </p:nvSpPr>
        <p:spPr>
          <a:xfrm>
            <a:off x="6492240" y="1920240"/>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1</a:t>
            </a:r>
          </a:p>
        </p:txBody>
      </p:sp>
      <p:sp>
        <p:nvSpPr>
          <p:cNvPr id="15" name="TextBox 14"/>
          <p:cNvSpPr txBox="1"/>
          <p:nvPr/>
        </p:nvSpPr>
        <p:spPr>
          <a:xfrm>
            <a:off x="7086600" y="1901952"/>
            <a:ext cx="4069080" cy="822960"/>
          </a:xfrm>
          <a:prstGeom prst="rect">
            <a:avLst/>
          </a:prstGeom>
          <a:noFill/>
        </p:spPr>
        <p:txBody>
          <a:bodyPr wrap="square" lIns="0" rIns="0" tIns="0" bIns="0" anchor="t">
            <a:spAutoFit/>
          </a:bodyPr>
          <a:lstStyle/>
          <a:p>
            <a:pPr algn="l">
              <a:spcAft>
                <a:spcPts val="600"/>
              </a:spcAft>
            </a:pPr>
            <a:r>
              <a:rPr sz="1500" b="0" i="0">
                <a:solidFill>
                  <a:srgbClr val="262626"/>
                </a:solidFill>
                <a:latin typeface="Calibri"/>
              </a:rPr>
              <a:t>MinHash makes a 128-number signature for each article</a:t>
            </a:r>
          </a:p>
        </p:txBody>
      </p:sp>
      <p:sp>
        <p:nvSpPr>
          <p:cNvPr id="16" name="Oval 15"/>
          <p:cNvSpPr/>
          <p:nvPr/>
        </p:nvSpPr>
        <p:spPr>
          <a:xfrm>
            <a:off x="6492240" y="2834640"/>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2</a:t>
            </a:r>
          </a:p>
        </p:txBody>
      </p:sp>
      <p:sp>
        <p:nvSpPr>
          <p:cNvPr id="17" name="TextBox 16"/>
          <p:cNvSpPr txBox="1"/>
          <p:nvPr/>
        </p:nvSpPr>
        <p:spPr>
          <a:xfrm>
            <a:off x="7086600" y="2816352"/>
            <a:ext cx="4069080" cy="822960"/>
          </a:xfrm>
          <a:prstGeom prst="rect">
            <a:avLst/>
          </a:prstGeom>
          <a:noFill/>
        </p:spPr>
        <p:txBody>
          <a:bodyPr wrap="square" lIns="0" rIns="0" tIns="0" bIns="0" anchor="t">
            <a:spAutoFit/>
          </a:bodyPr>
          <a:lstStyle/>
          <a:p>
            <a:pPr algn="l">
              <a:spcAft>
                <a:spcPts val="600"/>
              </a:spcAft>
            </a:pPr>
            <a:r>
              <a:rPr sz="1500" b="0" i="0">
                <a:solidFill>
                  <a:srgbClr val="262626"/>
                </a:solidFill>
                <a:latin typeface="Calibri"/>
              </a:rPr>
              <a:t>Matching positions estimate similarity</a:t>
            </a:r>
          </a:p>
        </p:txBody>
      </p:sp>
      <p:sp>
        <p:nvSpPr>
          <p:cNvPr id="18" name="Oval 17"/>
          <p:cNvSpPr/>
          <p:nvPr/>
        </p:nvSpPr>
        <p:spPr>
          <a:xfrm>
            <a:off x="6492240" y="3749039"/>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solidFill>
                  <a:srgbClr val="FFFFFF"/>
                </a:solidFill>
                <a:latin typeface="Calibri"/>
              </a:rPr>
              <a:t>3</a:t>
            </a:r>
          </a:p>
        </p:txBody>
      </p:sp>
      <p:sp>
        <p:nvSpPr>
          <p:cNvPr id="19" name="TextBox 18"/>
          <p:cNvSpPr txBox="1"/>
          <p:nvPr/>
        </p:nvSpPr>
        <p:spPr>
          <a:xfrm>
            <a:off x="7086600" y="3730752"/>
            <a:ext cx="4069080" cy="822960"/>
          </a:xfrm>
          <a:prstGeom prst="rect">
            <a:avLst/>
          </a:prstGeom>
          <a:noFill/>
        </p:spPr>
        <p:txBody>
          <a:bodyPr wrap="square" lIns="0" rIns="0" tIns="0" bIns="0" anchor="t">
            <a:spAutoFit/>
          </a:bodyPr>
          <a:lstStyle/>
          <a:p>
            <a:pPr algn="l">
              <a:spcAft>
                <a:spcPts val="600"/>
              </a:spcAft>
            </a:pPr>
            <a:r>
              <a:rPr sz="1500" b="0" i="0">
                <a:solidFill>
                  <a:srgbClr val="262626"/>
                </a:solidFill>
                <a:latin typeface="Calibri"/>
              </a:rPr>
              <a:t>If similarity ≥ 0.12, union(a, b) in Union-Find; each final set is one story</a:t>
            </a:r>
          </a:p>
        </p:txBody>
      </p:sp>
      <p:sp>
        <p:nvSpPr>
          <p:cNvPr id="20" name="Rounded Rectangle 19"/>
          <p:cNvSpPr/>
          <p:nvPr/>
        </p:nvSpPr>
        <p:spPr>
          <a:xfrm>
            <a:off x="6492240" y="4754880"/>
            <a:ext cx="4709160" cy="1051560"/>
          </a:xfrm>
          <a:prstGeom prst="roundRect">
            <a:avLst>
              <a:gd name="adj" fmla="val 8000"/>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solidFill>
                  <a:srgbClr val="262626"/>
                </a:solidFill>
                <a:latin typeface="Calibri"/>
              </a:rPr>
              <a:t> Example: </a:t>
            </a:r>
            <a:r>
              <a:rPr sz="1400" b="0" i="0">
                <a:solidFill>
                  <a:srgbClr val="262626"/>
                </a:solidFill>
                <a:latin typeface="Calibri"/>
              </a:rPr>
              <a:t>EU AI story: wire-01, 04, 09, 15 in one set, </a:t>
            </a:r>
            <a:r>
              <a:rPr sz="1400" b="1" i="0">
                <a:solidFill>
                  <a:srgbClr val="C00000"/>
                </a:solidFill>
                <a:latin typeface="Calibri"/>
              </a:rPr>
              <a:t>lead = wire-01 (Reuters)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2854452" y="219456"/>
            <a:ext cx="6483096" cy="566928"/>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600" b="1">
                <a:solidFill>
                  <a:srgbClr val="FFFFFF"/>
                </a:solidFill>
                <a:latin typeface="Calibri"/>
              </a:rPr>
              <a:t>Working of Key Algorithms (2/2)</a:t>
            </a:r>
            <a:endParaRPr lang="en-US"/>
          </a:p>
        </p:txBody>
      </p:sp>
      <p:sp>
        <p:nvSpPr>
          <p:cNvPr id="3" name="Rounded Rectangle 2"/>
          <p:cNvSpPr/>
          <p:nvPr/>
        </p:nvSpPr>
        <p:spPr>
          <a:xfrm>
            <a:off x="731520" y="1188720"/>
            <a:ext cx="5257800" cy="21488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1325880"/>
            <a:ext cx="4709160" cy="1920240"/>
          </a:xfrm>
          <a:prstGeom prst="rect">
            <a:avLst/>
          </a:prstGeom>
          <a:noFill/>
        </p:spPr>
        <p:txBody>
          <a:bodyPr wrap="square" lIns="0" rIns="0" tIns="0" bIns="0" anchor="t">
            <a:spAutoFit/>
          </a:bodyPr>
          <a:lstStyle/>
          <a:p>
            <a:pPr algn="l">
              <a:spcAft>
                <a:spcPts val="600"/>
              </a:spcAft>
            </a:pPr>
            <a:r>
              <a:rPr sz="1800" b="1" i="0">
                <a:solidFill>
                  <a:srgbClr val="C00000"/>
                </a:solidFill>
                <a:latin typeface="Calibri"/>
              </a:rPr>
              <a:t>Search: Trie + KMP</a:t>
            </a:r>
          </a:p>
          <a:p>
            <a:pPr algn="l">
              <a:spcAft>
                <a:spcPts val="600"/>
              </a:spcAft>
            </a:pPr>
            <a:r>
              <a:rPr sz="1500" b="0" i="0">
                <a:solidFill>
                  <a:srgbClr val="262626"/>
                </a:solidFill>
                <a:latin typeface="Calibri"/>
              </a:rPr>
              <a:t>Headlines, words, publishers and keywords are stored in a Trie. Typing "reu" walks r → e → u and returns Reuters articles. If no word starts with the query, KMP finds it anywhere inside a headline.</a:t>
            </a:r>
          </a:p>
        </p:txBody>
      </p:sp>
      <p:sp>
        <p:nvSpPr>
          <p:cNvPr id="5" name="Rounded Rectangle 4"/>
          <p:cNvSpPr/>
          <p:nvPr/>
        </p:nvSpPr>
        <p:spPr>
          <a:xfrm>
            <a:off x="6217920" y="1188720"/>
            <a:ext cx="5257800" cy="21488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92240" y="1325880"/>
            <a:ext cx="4709160" cy="1920240"/>
          </a:xfrm>
          <a:prstGeom prst="rect">
            <a:avLst/>
          </a:prstGeom>
          <a:noFill/>
        </p:spPr>
        <p:txBody>
          <a:bodyPr wrap="square" lIns="0" rIns="0" tIns="0" bIns="0" anchor="t">
            <a:spAutoFit/>
          </a:bodyPr>
          <a:lstStyle/>
          <a:p>
            <a:pPr algn="l">
              <a:spcAft>
                <a:spcPts val="600"/>
              </a:spcAft>
            </a:pPr>
            <a:r>
              <a:rPr sz="1800" b="1" i="0">
                <a:solidFill>
                  <a:srgbClr val="C00000"/>
                </a:solidFill>
                <a:latin typeface="Calibri"/>
              </a:rPr>
              <a:t>Ranking: Max Heap</a:t>
            </a:r>
          </a:p>
          <a:p>
            <a:pPr algn="l">
              <a:spcAft>
                <a:spcPts val="600"/>
              </a:spcAft>
            </a:pPr>
            <a:r>
              <a:rPr sz="1500" b="0" i="0">
                <a:solidFill>
                  <a:srgbClr val="262626"/>
                </a:solidFill>
                <a:latin typeface="Calibri"/>
              </a:rPr>
              <a:t>Lead = highest-scored original article (ties: reach, then date). Story leads go into a max heap and are popped by priority score, reach or latest date.</a:t>
            </a:r>
          </a:p>
        </p:txBody>
      </p:sp>
      <p:sp>
        <p:nvSpPr>
          <p:cNvPr id="7" name="Rounded Rectangle 6"/>
          <p:cNvSpPr/>
          <p:nvPr/>
        </p:nvSpPr>
        <p:spPr>
          <a:xfrm>
            <a:off x="731520" y="3566160"/>
            <a:ext cx="3429000" cy="25146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3703320"/>
            <a:ext cx="2880360" cy="2286000"/>
          </a:xfrm>
          <a:prstGeom prst="rect">
            <a:avLst/>
          </a:prstGeom>
          <a:noFill/>
        </p:spPr>
        <p:txBody>
          <a:bodyPr wrap="square" lIns="0" rIns="0" tIns="0" bIns="0" anchor="t">
            <a:spAutoFit/>
          </a:bodyPr>
          <a:lstStyle/>
          <a:p>
            <a:pPr algn="l">
              <a:spcAft>
                <a:spcPts val="600"/>
              </a:spcAft>
            </a:pPr>
            <a:r>
              <a:rPr sz="1800" b="1" i="0">
                <a:solidFill>
                  <a:srgbClr val="C00000"/>
                </a:solidFill>
                <a:latin typeface="Calibri"/>
              </a:rPr>
              <a:t>Front Page Planner</a:t>
            </a:r>
          </a:p>
          <a:p>
            <a:pPr algn="l">
              <a:spcAft>
                <a:spcPts val="600"/>
              </a:spcAft>
            </a:pPr>
            <a:r>
              <a:rPr sz="1500" b="1" i="0">
                <a:solidFill>
                  <a:srgbClr val="262626"/>
                </a:solidFill>
                <a:latin typeface="Calibri"/>
              </a:rPr>
              <a:t>DP (0/1 knapsack)</a:t>
            </a:r>
          </a:p>
          <a:p>
            <a:pPr algn="l">
              <a:spcAft>
                <a:spcPts val="600"/>
              </a:spcAft>
            </a:pPr>
            <a:r>
              <a:rPr sz="1500" b="0" i="0">
                <a:solidFill>
                  <a:srgbClr val="262626"/>
                </a:solidFill>
                <a:latin typeface="Calibri"/>
              </a:rPr>
              <a:t>Pick stories with the highest total importance that fit in the page slots</a:t>
            </a:r>
          </a:p>
        </p:txBody>
      </p:sp>
      <p:sp>
        <p:nvSpPr>
          <p:cNvPr id="9" name="Rounded Rectangle 8"/>
          <p:cNvSpPr/>
          <p:nvPr/>
        </p:nvSpPr>
        <p:spPr>
          <a:xfrm>
            <a:off x="4389120" y="3566160"/>
            <a:ext cx="3429000" cy="2514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63440" y="3703320"/>
            <a:ext cx="2880360" cy="2286000"/>
          </a:xfrm>
          <a:prstGeom prst="rect">
            <a:avLst/>
          </a:prstGeom>
          <a:noFill/>
        </p:spPr>
        <p:txBody>
          <a:bodyPr wrap="square" lIns="0" rIns="0" tIns="0" bIns="0" anchor="t">
            <a:spAutoFit/>
          </a:bodyPr>
          <a:lstStyle/>
          <a:p>
            <a:pPr algn="l">
              <a:spcAft>
                <a:spcPts val="600"/>
              </a:spcAft>
            </a:pPr>
            <a:r>
              <a:rPr sz="1800" b="1" i="0">
                <a:solidFill>
                  <a:srgbClr val="FFFFFF"/>
                </a:solidFill>
                <a:latin typeface="Calibri"/>
              </a:rPr>
              <a:t>Editor Assignment</a:t>
            </a:r>
          </a:p>
          <a:p>
            <a:pPr algn="l">
              <a:spcAft>
                <a:spcPts val="600"/>
              </a:spcAft>
            </a:pPr>
            <a:r>
              <a:rPr sz="1500" b="1" i="0">
                <a:solidFill>
                  <a:srgbClr val="FFFFFF"/>
                </a:solidFill>
                <a:latin typeface="Calibri"/>
              </a:rPr>
              <a:t>Max Flow (Edmonds-Karp)</a:t>
            </a:r>
          </a:p>
          <a:p>
            <a:pPr algn="l">
              <a:spcAft>
                <a:spcPts val="600"/>
              </a:spcAft>
            </a:pPr>
            <a:r>
              <a:rPr sz="1500" b="0" i="0">
                <a:solidFill>
                  <a:srgbClr val="FFFFFF"/>
                </a:solidFill>
                <a:latin typeface="Calibri"/>
              </a:rPr>
              <a:t>source → stories → editors → sink; no editor goes over capacity</a:t>
            </a:r>
          </a:p>
        </p:txBody>
      </p:sp>
      <p:sp>
        <p:nvSpPr>
          <p:cNvPr id="11" name="Rounded Rectangle 10"/>
          <p:cNvSpPr/>
          <p:nvPr/>
        </p:nvSpPr>
        <p:spPr>
          <a:xfrm>
            <a:off x="8046720" y="3566160"/>
            <a:ext cx="3429000" cy="25146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21040" y="3703320"/>
            <a:ext cx="2880360" cy="2286000"/>
          </a:xfrm>
          <a:prstGeom prst="rect">
            <a:avLst/>
          </a:prstGeom>
          <a:noFill/>
        </p:spPr>
        <p:txBody>
          <a:bodyPr wrap="square" lIns="0" rIns="0" tIns="0" bIns="0" anchor="t">
            <a:spAutoFit/>
          </a:bodyPr>
          <a:lstStyle/>
          <a:p>
            <a:pPr algn="l">
              <a:spcAft>
                <a:spcPts val="600"/>
              </a:spcAft>
            </a:pPr>
            <a:r>
              <a:rPr sz="1800" b="1" i="0">
                <a:solidFill>
                  <a:srgbClr val="C00000"/>
                </a:solidFill>
                <a:latin typeface="Calibri"/>
              </a:rPr>
              <a:t>Publisher Coverage</a:t>
            </a:r>
          </a:p>
          <a:p>
            <a:pPr algn="l">
              <a:spcAft>
                <a:spcPts val="600"/>
              </a:spcAft>
            </a:pPr>
            <a:r>
              <a:rPr sz="1500" b="1" i="0">
                <a:solidFill>
                  <a:srgbClr val="262626"/>
                </a:solidFill>
                <a:latin typeface="Calibri"/>
              </a:rPr>
              <a:t>Greedy Set Cover</a:t>
            </a:r>
          </a:p>
          <a:p>
            <a:pPr algn="l">
              <a:spcAft>
                <a:spcPts val="600"/>
              </a:spcAft>
            </a:pPr>
            <a:r>
              <a:rPr sz="1500" b="0" i="0">
                <a:solidFill>
                  <a:srgbClr val="262626"/>
                </a:solidFill>
                <a:latin typeface="Calibri"/>
              </a:rPr>
              <a:t>Keep picking the publisher that covers the most uncovered stories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901440" y="219456"/>
            <a:ext cx="4389120" cy="566928"/>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600" b="1">
                <a:solidFill>
                  <a:srgbClr val="FFFFFF"/>
                </a:solidFill>
                <a:latin typeface="Calibri"/>
              </a:rPr>
              <a:t>CO Mapping</a:t>
            </a:r>
            <a:endParaRPr lang="en-US"/>
          </a:p>
        </p:txBody>
      </p:sp>
      <p:graphicFrame>
        <p:nvGraphicFramePr>
          <p:cNvPr id="3" name="Table 2"/>
          <p:cNvGraphicFramePr>
            <a:graphicFrameLocks noGrp="1"/>
          </p:cNvGraphicFramePr>
          <p:nvPr/>
        </p:nvGraphicFramePr>
        <p:xfrm>
          <a:off x="822960" y="1280160"/>
          <a:ext cx="10543032" cy="4352544"/>
        </p:xfrm>
        <a:graphic>
          <a:graphicData uri="http://schemas.openxmlformats.org/drawingml/2006/table">
            <a:tbl>
              <a:tblPr firstRow="0" bandRow="0"/>
              <a:tblGrid>
                <a:gridCol w="1280160"/>
                <a:gridCol w="3474720"/>
                <a:gridCol w="5788152"/>
              </a:tblGrid>
              <a:tr h="621792">
                <a:tc>
                  <a:txBody>
                    <a:bodyPr wrap="square"/>
                    <a:lstStyle/>
                    <a:p>
                      <a:r>
                        <a:rPr sz="1700" b="1">
                          <a:solidFill>
                            <a:srgbClr val="FFFFFF"/>
                          </a:solidFill>
                          <a:latin typeface="Calibri"/>
                        </a:rPr>
                        <a:t>CO</a:t>
                      </a:r>
                    </a:p>
                  </a:txBody>
                  <a:tcPr marL="91440" marR="91440" marT="27432" marB="27432" anchor="ctr">
                    <a:solidFill>
                      <a:srgbClr val="C00000"/>
                    </a:solidFill>
                  </a:tcPr>
                </a:tc>
                <a:tc>
                  <a:txBody>
                    <a:bodyPr wrap="square"/>
                    <a:lstStyle/>
                    <a:p>
                      <a:r>
                        <a:rPr sz="1700" b="1">
                          <a:solidFill>
                            <a:srgbClr val="FFFFFF"/>
                          </a:solidFill>
                          <a:latin typeface="Calibri"/>
                        </a:rPr>
                        <a:t>Topic</a:t>
                      </a:r>
                    </a:p>
                  </a:txBody>
                  <a:tcPr marL="91440" marR="91440" marT="27432" marB="27432" anchor="ctr">
                    <a:solidFill>
                      <a:srgbClr val="C00000"/>
                    </a:solidFill>
                  </a:tcPr>
                </a:tc>
                <a:tc>
                  <a:txBody>
                    <a:bodyPr wrap="square"/>
                    <a:lstStyle/>
                    <a:p>
                      <a:r>
                        <a:rPr sz="1700" b="1">
                          <a:solidFill>
                            <a:srgbClr val="FFFFFF"/>
                          </a:solidFill>
                          <a:latin typeface="Calibri"/>
                        </a:rPr>
                        <a:t>Where it appears in our project</a:t>
                      </a:r>
                    </a:p>
                  </a:txBody>
                  <a:tcPr marL="91440" marR="91440" marT="27432" marB="27432" anchor="ctr">
                    <a:solidFill>
                      <a:srgbClr val="C00000"/>
                    </a:solidFill>
                  </a:tcPr>
                </a:tc>
              </a:tr>
              <a:tr h="621792">
                <a:tc>
                  <a:txBody>
                    <a:bodyPr wrap="square"/>
                    <a:lstStyle/>
                    <a:p>
                      <a:r>
                        <a:rPr sz="1700" b="1">
                          <a:solidFill>
                            <a:srgbClr val="C00000"/>
                          </a:solidFill>
                          <a:latin typeface="Calibri"/>
                        </a:rPr>
                        <a:t>CO1</a:t>
                      </a:r>
                    </a:p>
                  </a:txBody>
                  <a:tcPr marL="91440" marR="91440" marT="27432" marB="27432" anchor="ctr">
                    <a:solidFill>
                      <a:srgbClr val="F2F2F2"/>
                    </a:solidFill>
                  </a:tcPr>
                </a:tc>
                <a:tc>
                  <a:txBody>
                    <a:bodyPr wrap="square"/>
                    <a:lstStyle/>
                    <a:p>
                      <a:r>
                        <a:rPr sz="1700" b="1">
                          <a:solidFill>
                            <a:srgbClr val="262626"/>
                          </a:solidFill>
                          <a:latin typeface="Calibri"/>
                        </a:rPr>
                        <a:t>Problem-class signatures</a:t>
                      </a:r>
                    </a:p>
                  </a:txBody>
                  <a:tcPr marL="91440" marR="91440" marT="27432" marB="27432" anchor="ctr">
                    <a:solidFill>
                      <a:srgbClr val="F2F2F2"/>
                    </a:solidFill>
                  </a:tcPr>
                </a:tc>
                <a:tc>
                  <a:txBody>
                    <a:bodyPr wrap="square"/>
                    <a:lstStyle/>
                    <a:p>
                      <a:r>
                        <a:rPr sz="1700" b="0">
                          <a:solidFill>
                            <a:srgbClr val="262626"/>
                          </a:solidFill>
                          <a:latin typeface="Calibri"/>
                        </a:rPr>
                        <a:t>Search, flow, NP-hard scheduling / set cover</a:t>
                      </a:r>
                    </a:p>
                  </a:txBody>
                  <a:tcPr marL="91440" marR="91440" marT="27432" marB="27432" anchor="ctr">
                    <a:solidFill>
                      <a:srgbClr val="F2F2F2"/>
                    </a:solidFill>
                  </a:tcPr>
                </a:tc>
              </a:tr>
              <a:tr h="621792">
                <a:tc>
                  <a:txBody>
                    <a:bodyPr wrap="square"/>
                    <a:lstStyle/>
                    <a:p>
                      <a:r>
                        <a:rPr sz="1700" b="1">
                          <a:solidFill>
                            <a:srgbClr val="C00000"/>
                          </a:solidFill>
                          <a:latin typeface="Calibri"/>
                        </a:rPr>
                        <a:t>CO2</a:t>
                      </a:r>
                    </a:p>
                  </a:txBody>
                  <a:tcPr marL="91440" marR="91440" marT="27432" marB="27432" anchor="ctr">
                    <a:solidFill>
                      <a:srgbClr val="FFFFFF"/>
                    </a:solidFill>
                  </a:tcPr>
                </a:tc>
                <a:tc>
                  <a:txBody>
                    <a:bodyPr wrap="square"/>
                    <a:lstStyle/>
                    <a:p>
                      <a:r>
                        <a:rPr sz="1700" b="1">
                          <a:solidFill>
                            <a:srgbClr val="262626"/>
                          </a:solidFill>
                          <a:latin typeface="Calibri"/>
                        </a:rPr>
                        <a:t>String algorithms</a:t>
                      </a:r>
                    </a:p>
                  </a:txBody>
                  <a:tcPr marL="91440" marR="91440" marT="27432" marB="27432" anchor="ctr">
                    <a:solidFill>
                      <a:srgbClr val="FFFFFF"/>
                    </a:solidFill>
                  </a:tcPr>
                </a:tc>
                <a:tc>
                  <a:txBody>
                    <a:bodyPr wrap="square"/>
                    <a:lstStyle/>
                    <a:p>
                      <a:r>
                        <a:rPr sz="1700" b="0">
                          <a:solidFill>
                            <a:srgbClr val="262626"/>
                          </a:solidFill>
                          <a:latin typeface="Calibri"/>
                        </a:rPr>
                        <a:t>KMP, rolling hash, Trie</a:t>
                      </a:r>
                    </a:p>
                  </a:txBody>
                  <a:tcPr marL="91440" marR="91440" marT="27432" marB="27432" anchor="ctr">
                    <a:solidFill>
                      <a:srgbClr val="FFFFFF"/>
                    </a:solidFill>
                  </a:tcPr>
                </a:tc>
              </a:tr>
              <a:tr h="621792">
                <a:tc>
                  <a:txBody>
                    <a:bodyPr wrap="square"/>
                    <a:lstStyle/>
                    <a:p>
                      <a:r>
                        <a:rPr sz="1700" b="1">
                          <a:solidFill>
                            <a:srgbClr val="C00000"/>
                          </a:solidFill>
                          <a:latin typeface="Calibri"/>
                        </a:rPr>
                        <a:t>CO3</a:t>
                      </a:r>
                    </a:p>
                  </a:txBody>
                  <a:tcPr marL="91440" marR="91440" marT="27432" marB="27432" anchor="ctr">
                    <a:solidFill>
                      <a:srgbClr val="F2F2F2"/>
                    </a:solidFill>
                  </a:tcPr>
                </a:tc>
                <a:tc>
                  <a:txBody>
                    <a:bodyPr wrap="square"/>
                    <a:lstStyle/>
                    <a:p>
                      <a:r>
                        <a:rPr sz="1700" b="1">
                          <a:solidFill>
                            <a:srgbClr val="262626"/>
                          </a:solidFill>
                          <a:latin typeface="Calibri"/>
                        </a:rPr>
                        <a:t>Dynamic programming</a:t>
                      </a:r>
                    </a:p>
                  </a:txBody>
                  <a:tcPr marL="91440" marR="91440" marT="27432" marB="27432" anchor="ctr">
                    <a:solidFill>
                      <a:srgbClr val="F2F2F2"/>
                    </a:solidFill>
                  </a:tcPr>
                </a:tc>
                <a:tc>
                  <a:txBody>
                    <a:bodyPr wrap="square"/>
                    <a:lstStyle/>
                    <a:p>
                      <a:r>
                        <a:rPr sz="1700" b="0">
                          <a:solidFill>
                            <a:srgbClr val="262626"/>
                          </a:solidFill>
                          <a:latin typeface="Calibri"/>
                        </a:rPr>
                        <a:t>Knapsack-based front page planner</a:t>
                      </a:r>
                    </a:p>
                  </a:txBody>
                  <a:tcPr marL="91440" marR="91440" marT="27432" marB="27432" anchor="ctr">
                    <a:solidFill>
                      <a:srgbClr val="F2F2F2"/>
                    </a:solidFill>
                  </a:tcPr>
                </a:tc>
              </a:tr>
              <a:tr h="621792">
                <a:tc>
                  <a:txBody>
                    <a:bodyPr wrap="square"/>
                    <a:lstStyle/>
                    <a:p>
                      <a:r>
                        <a:rPr sz="1700" b="1">
                          <a:solidFill>
                            <a:srgbClr val="C00000"/>
                          </a:solidFill>
                          <a:latin typeface="Calibri"/>
                        </a:rPr>
                        <a:t>CO4</a:t>
                      </a:r>
                    </a:p>
                  </a:txBody>
                  <a:tcPr marL="91440" marR="91440" marT="27432" marB="27432" anchor="ctr">
                    <a:solidFill>
                      <a:srgbClr val="FFFFFF"/>
                    </a:solidFill>
                  </a:tcPr>
                </a:tc>
                <a:tc>
                  <a:txBody>
                    <a:bodyPr wrap="square"/>
                    <a:lstStyle/>
                    <a:p>
                      <a:r>
                        <a:rPr sz="1700" b="1">
                          <a:solidFill>
                            <a:srgbClr val="262626"/>
                          </a:solidFill>
                          <a:latin typeface="Calibri"/>
                        </a:rPr>
                        <a:t>Network flow</a:t>
                      </a:r>
                    </a:p>
                  </a:txBody>
                  <a:tcPr marL="91440" marR="91440" marT="27432" marB="27432" anchor="ctr">
                    <a:solidFill>
                      <a:srgbClr val="FFFFFF"/>
                    </a:solidFill>
                  </a:tcPr>
                </a:tc>
                <a:tc>
                  <a:txBody>
                    <a:bodyPr wrap="square"/>
                    <a:lstStyle/>
                    <a:p>
                      <a:r>
                        <a:rPr sz="1700" b="0">
                          <a:solidFill>
                            <a:srgbClr val="262626"/>
                          </a:solidFill>
                          <a:latin typeface="Calibri"/>
                        </a:rPr>
                        <a:t>Edmonds-Karp editor assignment</a:t>
                      </a:r>
                    </a:p>
                  </a:txBody>
                  <a:tcPr marL="91440" marR="91440" marT="27432" marB="27432" anchor="ctr">
                    <a:solidFill>
                      <a:srgbClr val="FFFFFF"/>
                    </a:solidFill>
                  </a:tcPr>
                </a:tc>
              </a:tr>
              <a:tr h="621792">
                <a:tc>
                  <a:txBody>
                    <a:bodyPr wrap="square"/>
                    <a:lstStyle/>
                    <a:p>
                      <a:r>
                        <a:rPr sz="1700" b="1">
                          <a:solidFill>
                            <a:srgbClr val="C00000"/>
                          </a:solidFill>
                          <a:latin typeface="Calibri"/>
                        </a:rPr>
                        <a:t>CO5</a:t>
                      </a:r>
                    </a:p>
                  </a:txBody>
                  <a:tcPr marL="91440" marR="91440" marT="27432" marB="27432" anchor="ctr">
                    <a:solidFill>
                      <a:srgbClr val="F2F2F2"/>
                    </a:solidFill>
                  </a:tcPr>
                </a:tc>
                <a:tc>
                  <a:txBody>
                    <a:bodyPr wrap="square"/>
                    <a:lstStyle/>
                    <a:p>
                      <a:r>
                        <a:rPr sz="1700" b="1">
                          <a:solidFill>
                            <a:srgbClr val="262626"/>
                          </a:solidFill>
                          <a:latin typeface="Calibri"/>
                        </a:rPr>
                        <a:t>Greedy approximation</a:t>
                      </a:r>
                    </a:p>
                  </a:txBody>
                  <a:tcPr marL="91440" marR="91440" marT="27432" marB="27432" anchor="ctr">
                    <a:solidFill>
                      <a:srgbClr val="F2F2F2"/>
                    </a:solidFill>
                  </a:tcPr>
                </a:tc>
                <a:tc>
                  <a:txBody>
                    <a:bodyPr wrap="square"/>
                    <a:lstStyle/>
                    <a:p>
                      <a:r>
                        <a:rPr sz="1700" b="0">
                          <a:solidFill>
                            <a:srgbClr val="262626"/>
                          </a:solidFill>
                          <a:latin typeface="Calibri"/>
                        </a:rPr>
                        <a:t>Greedy set cover of publishers</a:t>
                      </a:r>
                    </a:p>
                  </a:txBody>
                  <a:tcPr marL="91440" marR="91440" marT="27432" marB="27432" anchor="ctr">
                    <a:solidFill>
                      <a:srgbClr val="F2F2F2"/>
                    </a:solidFill>
                  </a:tcPr>
                </a:tc>
              </a:tr>
              <a:tr h="621792">
                <a:tc>
                  <a:txBody>
                    <a:bodyPr wrap="square"/>
                    <a:lstStyle/>
                    <a:p>
                      <a:r>
                        <a:rPr sz="1700" b="1">
                          <a:solidFill>
                            <a:srgbClr val="C00000"/>
                          </a:solidFill>
                          <a:latin typeface="Calibri"/>
                        </a:rPr>
                        <a:t>CO6</a:t>
                      </a:r>
                    </a:p>
                  </a:txBody>
                  <a:tcPr marL="91440" marR="91440" marT="27432" marB="27432" anchor="ctr">
                    <a:solidFill>
                      <a:srgbClr val="FFFFFF"/>
                    </a:solidFill>
                  </a:tcPr>
                </a:tc>
                <a:tc>
                  <a:txBody>
                    <a:bodyPr wrap="square"/>
                    <a:lstStyle/>
                    <a:p>
                      <a:r>
                        <a:rPr sz="1700" b="1">
                          <a:solidFill>
                            <a:srgbClr val="262626"/>
                          </a:solidFill>
                          <a:latin typeface="Calibri"/>
                        </a:rPr>
                        <a:t>Randomized algorithms</a:t>
                      </a:r>
                    </a:p>
                  </a:txBody>
                  <a:tcPr marL="91440" marR="91440" marT="27432" marB="27432" anchor="ctr">
                    <a:solidFill>
                      <a:srgbClr val="FFFFFF"/>
                    </a:solidFill>
                  </a:tcPr>
                </a:tc>
                <a:tc>
                  <a:txBody>
                    <a:bodyPr wrap="square"/>
                    <a:lstStyle/>
                    <a:p>
                      <a:r>
                        <a:rPr sz="1700" b="0">
                          <a:solidFill>
                            <a:srgbClr val="262626"/>
                          </a:solidFill>
                          <a:latin typeface="Calibri"/>
                        </a:rPr>
                        <a:t>MinHash similarity estimation</a:t>
                      </a:r>
                    </a:p>
                  </a:txBody>
                  <a:tcPr marL="91440" marR="91440" marT="27432" marB="27432"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901440" y="219456"/>
            <a:ext cx="4389120" cy="566928"/>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600" b="1">
                <a:solidFill>
                  <a:srgbClr val="FFFFFF"/>
                </a:solidFill>
                <a:latin typeface="Calibri"/>
              </a:rPr>
              <a:t>Results</a:t>
            </a:r>
            <a:endParaRPr lang="en-US"/>
          </a:p>
        </p:txBody>
      </p:sp>
      <p:sp>
        <p:nvSpPr>
          <p:cNvPr id="3" name="Rounded Rectangle 2"/>
          <p:cNvSpPr/>
          <p:nvPr/>
        </p:nvSpPr>
        <p:spPr>
          <a:xfrm>
            <a:off x="548640" y="1051560"/>
            <a:ext cx="5715000" cy="51206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731520" y="1188720"/>
            <a:ext cx="123444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800" b="1" i="0">
                <a:solidFill>
                  <a:srgbClr val="C00000"/>
                </a:solidFill>
                <a:latin typeface="Calibri"/>
              </a:rPr>
              <a:t>20</a:t>
            </a:r>
          </a:p>
          <a:p>
            <a:pPr algn="ctr"/>
            <a:r>
              <a:rPr sz="1100" b="0" i="0">
                <a:solidFill>
                  <a:srgbClr val="595959"/>
                </a:solidFill>
                <a:latin typeface="Calibri"/>
              </a:rPr>
              <a:t>articles in</a:t>
            </a:r>
          </a:p>
        </p:txBody>
      </p:sp>
      <p:sp>
        <p:nvSpPr>
          <p:cNvPr id="5" name="Rounded Rectangle 4"/>
          <p:cNvSpPr/>
          <p:nvPr/>
        </p:nvSpPr>
        <p:spPr>
          <a:xfrm>
            <a:off x="2103120" y="1188720"/>
            <a:ext cx="1234440" cy="123444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800" b="1" i="0">
                <a:solidFill>
                  <a:srgbClr val="FFFFFF"/>
                </a:solidFill>
                <a:latin typeface="Calibri"/>
              </a:rPr>
              <a:t>7</a:t>
            </a:r>
          </a:p>
          <a:p>
            <a:pPr algn="ctr"/>
            <a:r>
              <a:rPr sz="1100" b="0" i="0">
                <a:solidFill>
                  <a:srgbClr val="FFFFFF"/>
                </a:solidFill>
                <a:latin typeface="Calibri"/>
              </a:rPr>
              <a:t>stories out</a:t>
            </a:r>
          </a:p>
        </p:txBody>
      </p:sp>
      <p:sp>
        <p:nvSpPr>
          <p:cNvPr id="6" name="Rounded Rectangle 5"/>
          <p:cNvSpPr/>
          <p:nvPr/>
        </p:nvSpPr>
        <p:spPr>
          <a:xfrm>
            <a:off x="3474720" y="1188720"/>
            <a:ext cx="123444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800" b="1" i="0">
                <a:solidFill>
                  <a:srgbClr val="C00000"/>
                </a:solidFill>
                <a:latin typeface="Calibri"/>
              </a:rPr>
              <a:t>3</a:t>
            </a:r>
          </a:p>
          <a:p>
            <a:pPr algn="ctr"/>
            <a:r>
              <a:rPr sz="1100" b="0" i="0">
                <a:solidFill>
                  <a:srgbClr val="595959"/>
                </a:solidFill>
                <a:latin typeface="Calibri"/>
              </a:rPr>
              <a:t>duplicates caught</a:t>
            </a:r>
          </a:p>
        </p:txBody>
      </p:sp>
      <p:sp>
        <p:nvSpPr>
          <p:cNvPr id="7" name="Rounded Rectangle 6"/>
          <p:cNvSpPr/>
          <p:nvPr/>
        </p:nvSpPr>
        <p:spPr>
          <a:xfrm>
            <a:off x="4846320" y="1188720"/>
            <a:ext cx="1234440"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800" b="1" i="0">
                <a:solidFill>
                  <a:srgbClr val="C00000"/>
                </a:solidFill>
                <a:latin typeface="Calibri"/>
              </a:rPr>
              <a:t>15/15</a:t>
            </a:r>
          </a:p>
          <a:p>
            <a:pPr algn="ctr"/>
            <a:r>
              <a:rPr sz="1100" b="0" i="0">
                <a:solidFill>
                  <a:srgbClr val="595959"/>
                </a:solidFill>
                <a:latin typeface="Calibri"/>
              </a:rPr>
              <a:t>tests passed</a:t>
            </a:r>
          </a:p>
        </p:txBody>
      </p:sp>
      <p:sp>
        <p:nvSpPr>
          <p:cNvPr id="8" name="TextBox 7"/>
          <p:cNvSpPr txBox="1"/>
          <p:nvPr/>
        </p:nvSpPr>
        <p:spPr>
          <a:xfrm>
            <a:off x="731520" y="2651760"/>
            <a:ext cx="5486400" cy="365760"/>
          </a:xfrm>
          <a:prstGeom prst="rect">
            <a:avLst/>
          </a:prstGeom>
          <a:noFill/>
        </p:spPr>
        <p:txBody>
          <a:bodyPr wrap="square" lIns="0" rIns="0" tIns="0" bIns="0" anchor="t">
            <a:spAutoFit/>
          </a:bodyPr>
          <a:lstStyle/>
          <a:p>
            <a:pPr algn="l">
              <a:spcAft>
                <a:spcPts val="600"/>
              </a:spcAft>
            </a:pPr>
            <a:r>
              <a:rPr sz="1600" b="1" i="0">
                <a:solidFill>
                  <a:srgbClr val="C00000"/>
                </a:solidFill>
                <a:latin typeface="Calibri"/>
              </a:rPr>
              <a:t>Story clusters ranked by priority score</a:t>
            </a:r>
          </a:p>
        </p:txBody>
      </p:sp>
      <p:graphicFrame>
        <p:nvGraphicFramePr>
          <p:cNvPr id="9" name="Table 8"/>
          <p:cNvGraphicFramePr>
            <a:graphicFrameLocks noGrp="1"/>
          </p:cNvGraphicFramePr>
          <p:nvPr/>
        </p:nvGraphicFramePr>
        <p:xfrm>
          <a:off x="731520" y="3017520"/>
          <a:ext cx="5349240" cy="3072384"/>
        </p:xfrm>
        <a:graphic>
          <a:graphicData uri="http://schemas.openxmlformats.org/drawingml/2006/table">
            <a:tbl>
              <a:tblPr firstRow="0" bandRow="0"/>
              <a:tblGrid>
                <a:gridCol w="548640"/>
                <a:gridCol w="3611880"/>
                <a:gridCol w="685800"/>
                <a:gridCol w="502920"/>
              </a:tblGrid>
              <a:tr h="384048">
                <a:tc>
                  <a:txBody>
                    <a:bodyPr wrap="square"/>
                    <a:lstStyle/>
                    <a:p>
                      <a:r>
                        <a:rPr sz="1100" b="1">
                          <a:solidFill>
                            <a:srgbClr val="FFFFFF"/>
                          </a:solidFill>
                          <a:latin typeface="Calibri"/>
                        </a:rPr>
                        <a:t>Rank</a:t>
                      </a:r>
                    </a:p>
                  </a:txBody>
                  <a:tcPr marL="91440" marR="91440" marT="27432" marB="27432" anchor="ctr">
                    <a:solidFill>
                      <a:srgbClr val="C00000"/>
                    </a:solidFill>
                  </a:tcPr>
                </a:tc>
                <a:tc>
                  <a:txBody>
                    <a:bodyPr wrap="square"/>
                    <a:lstStyle/>
                    <a:p>
                      <a:r>
                        <a:rPr sz="1100" b="1">
                          <a:solidFill>
                            <a:srgbClr val="FFFFFF"/>
                          </a:solidFill>
                          <a:latin typeface="Calibri"/>
                        </a:rPr>
                        <a:t>Lead headline (story)</a:t>
                      </a:r>
                    </a:p>
                  </a:txBody>
                  <a:tcPr marL="91440" marR="91440" marT="27432" marB="27432" anchor="ctr">
                    <a:solidFill>
                      <a:srgbClr val="C00000"/>
                    </a:solidFill>
                  </a:tcPr>
                </a:tc>
                <a:tc>
                  <a:txBody>
                    <a:bodyPr wrap="square"/>
                    <a:lstStyle/>
                    <a:p>
                      <a:r>
                        <a:rPr sz="1100" b="1">
                          <a:solidFill>
                            <a:srgbClr val="FFFFFF"/>
                          </a:solidFill>
                          <a:latin typeface="Calibri"/>
                        </a:rPr>
                        <a:t>Articles</a:t>
                      </a:r>
                    </a:p>
                  </a:txBody>
                  <a:tcPr marL="91440" marR="91440" marT="27432" marB="27432" anchor="ctr">
                    <a:solidFill>
                      <a:srgbClr val="C00000"/>
                    </a:solidFill>
                  </a:tcPr>
                </a:tc>
                <a:tc>
                  <a:txBody>
                    <a:bodyPr wrap="square"/>
                    <a:lstStyle/>
                    <a:p>
                      <a:r>
                        <a:rPr sz="1100" b="1">
                          <a:solidFill>
                            <a:srgbClr val="FFFFFF"/>
                          </a:solidFill>
                          <a:latin typeface="Calibri"/>
                        </a:rPr>
                        <a:t>Dup.</a:t>
                      </a:r>
                    </a:p>
                  </a:txBody>
                  <a:tcPr marL="91440" marR="91440" marT="27432" marB="27432" anchor="ctr">
                    <a:solidFill>
                      <a:srgbClr val="C00000"/>
                    </a:solidFill>
                  </a:tcPr>
                </a:tc>
              </a:tr>
              <a:tr h="384048">
                <a:tc>
                  <a:txBody>
                    <a:bodyPr wrap="square"/>
                    <a:lstStyle/>
                    <a:p>
                      <a:r>
                        <a:rPr sz="1100" b="1">
                          <a:solidFill>
                            <a:srgbClr val="262626"/>
                          </a:solidFill>
                          <a:latin typeface="Calibri"/>
                        </a:rPr>
                        <a:t>1</a:t>
                      </a:r>
                    </a:p>
                  </a:txBody>
                  <a:tcPr marL="91440" marR="91440" marT="27432" marB="27432" anchor="ctr">
                    <a:solidFill>
                      <a:srgbClr val="F2F2F2"/>
                    </a:solidFill>
                  </a:tcPr>
                </a:tc>
                <a:tc>
                  <a:txBody>
                    <a:bodyPr wrap="square"/>
                    <a:lstStyle/>
                    <a:p>
                      <a:r>
                        <a:rPr sz="1100" b="0">
                          <a:solidFill>
                            <a:srgbClr val="262626"/>
                          </a:solidFill>
                          <a:latin typeface="Calibri"/>
                        </a:rPr>
                        <a:t>EU lawmakers advance sweeping AI regulation package</a:t>
                      </a:r>
                    </a:p>
                  </a:txBody>
                  <a:tcPr marL="91440" marR="91440" marT="27432" marB="27432" anchor="ctr">
                    <a:solidFill>
                      <a:srgbClr val="F2F2F2"/>
                    </a:solidFill>
                  </a:tcPr>
                </a:tc>
                <a:tc>
                  <a:txBody>
                    <a:bodyPr wrap="square"/>
                    <a:lstStyle/>
                    <a:p>
                      <a:r>
                        <a:rPr sz="1100" b="0">
                          <a:solidFill>
                            <a:srgbClr val="262626"/>
                          </a:solidFill>
                          <a:latin typeface="Calibri"/>
                        </a:rPr>
                        <a:t>4</a:t>
                      </a:r>
                    </a:p>
                  </a:txBody>
                  <a:tcPr marL="91440" marR="91440" marT="27432" marB="27432" anchor="ctr">
                    <a:solidFill>
                      <a:srgbClr val="F2F2F2"/>
                    </a:solidFill>
                  </a:tcPr>
                </a:tc>
                <a:tc>
                  <a:txBody>
                    <a:bodyPr wrap="square"/>
                    <a:lstStyle/>
                    <a:p>
                      <a:r>
                        <a:rPr sz="1100" b="0">
                          <a:solidFill>
                            <a:srgbClr val="262626"/>
                          </a:solidFill>
                          <a:latin typeface="Calibri"/>
                        </a:rPr>
                        <a:t>1</a:t>
                      </a:r>
                    </a:p>
                  </a:txBody>
                  <a:tcPr marL="91440" marR="91440" marT="27432" marB="27432" anchor="ctr">
                    <a:solidFill>
                      <a:srgbClr val="F2F2F2"/>
                    </a:solidFill>
                  </a:tcPr>
                </a:tc>
              </a:tr>
              <a:tr h="384048">
                <a:tc>
                  <a:txBody>
                    <a:bodyPr wrap="square"/>
                    <a:lstStyle/>
                    <a:p>
                      <a:r>
                        <a:rPr sz="1100" b="1">
                          <a:solidFill>
                            <a:srgbClr val="262626"/>
                          </a:solidFill>
                          <a:latin typeface="Calibri"/>
                        </a:rPr>
                        <a:t>2</a:t>
                      </a:r>
                    </a:p>
                  </a:txBody>
                  <a:tcPr marL="91440" marR="91440" marT="27432" marB="27432" anchor="ctr">
                    <a:solidFill>
                      <a:srgbClr val="FFFFFF"/>
                    </a:solidFill>
                  </a:tcPr>
                </a:tc>
                <a:tc>
                  <a:txBody>
                    <a:bodyPr wrap="square"/>
                    <a:lstStyle/>
                    <a:p>
                      <a:r>
                        <a:rPr sz="1100" b="0">
                          <a:solidFill>
                            <a:srgbClr val="262626"/>
                          </a:solidFill>
                          <a:latin typeface="Calibri"/>
                        </a:rPr>
                        <a:t>Harbour City wins Continental Cup final in extra time</a:t>
                      </a:r>
                    </a:p>
                  </a:txBody>
                  <a:tcPr marL="91440" marR="91440" marT="27432" marB="27432" anchor="ctr">
                    <a:solidFill>
                      <a:srgbClr val="FFFFFF"/>
                    </a:solidFill>
                  </a:tcPr>
                </a:tc>
                <a:tc>
                  <a:txBody>
                    <a:bodyPr wrap="square"/>
                    <a:lstStyle/>
                    <a:p>
                      <a:r>
                        <a:rPr sz="1100" b="0">
                          <a:solidFill>
                            <a:srgbClr val="262626"/>
                          </a:solidFill>
                          <a:latin typeface="Calibri"/>
                        </a:rPr>
                        <a:t>3</a:t>
                      </a:r>
                    </a:p>
                  </a:txBody>
                  <a:tcPr marL="91440" marR="91440" marT="27432" marB="27432" anchor="ctr">
                    <a:solidFill>
                      <a:srgbClr val="FFFFFF"/>
                    </a:solidFill>
                  </a:tcPr>
                </a:tc>
                <a:tc>
                  <a:txBody>
                    <a:bodyPr wrap="square"/>
                    <a:lstStyle/>
                    <a:p>
                      <a:r>
                        <a:rPr sz="1100" b="0">
                          <a:solidFill>
                            <a:srgbClr val="262626"/>
                          </a:solidFill>
                          <a:latin typeface="Calibri"/>
                        </a:rPr>
                        <a:t>1</a:t>
                      </a:r>
                    </a:p>
                  </a:txBody>
                  <a:tcPr marL="91440" marR="91440" marT="27432" marB="27432" anchor="ctr">
                    <a:solidFill>
                      <a:srgbClr val="FFFFFF"/>
                    </a:solidFill>
                  </a:tcPr>
                </a:tc>
              </a:tr>
              <a:tr h="384048">
                <a:tc>
                  <a:txBody>
                    <a:bodyPr wrap="square"/>
                    <a:lstStyle/>
                    <a:p>
                      <a:r>
                        <a:rPr sz="1100" b="1">
                          <a:solidFill>
                            <a:srgbClr val="262626"/>
                          </a:solidFill>
                          <a:latin typeface="Calibri"/>
                        </a:rPr>
                        <a:t>3</a:t>
                      </a:r>
                    </a:p>
                  </a:txBody>
                  <a:tcPr marL="91440" marR="91440" marT="27432" marB="27432" anchor="ctr">
                    <a:solidFill>
                      <a:srgbClr val="F2F2F2"/>
                    </a:solidFill>
                  </a:tcPr>
                </a:tc>
                <a:tc>
                  <a:txBody>
                    <a:bodyPr wrap="square"/>
                    <a:lstStyle/>
                    <a:p>
                      <a:r>
                        <a:rPr sz="1100" b="0">
                          <a:solidFill>
                            <a:srgbClr val="262626"/>
                          </a:solidFill>
                          <a:latin typeface="Calibri"/>
                        </a:rPr>
                        <a:t>Climate summit opens in Nairobi with emissions deadlock</a:t>
                      </a:r>
                    </a:p>
                  </a:txBody>
                  <a:tcPr marL="91440" marR="91440" marT="27432" marB="27432" anchor="ctr">
                    <a:solidFill>
                      <a:srgbClr val="F2F2F2"/>
                    </a:solidFill>
                  </a:tcPr>
                </a:tc>
                <a:tc>
                  <a:txBody>
                    <a:bodyPr wrap="square"/>
                    <a:lstStyle/>
                    <a:p>
                      <a:r>
                        <a:rPr sz="1100" b="0">
                          <a:solidFill>
                            <a:srgbClr val="262626"/>
                          </a:solidFill>
                          <a:latin typeface="Calibri"/>
                        </a:rPr>
                        <a:t>4</a:t>
                      </a:r>
                    </a:p>
                  </a:txBody>
                  <a:tcPr marL="91440" marR="91440" marT="27432" marB="27432" anchor="ctr">
                    <a:solidFill>
                      <a:srgbClr val="F2F2F2"/>
                    </a:solidFill>
                  </a:tcPr>
                </a:tc>
                <a:tc>
                  <a:txBody>
                    <a:bodyPr wrap="square"/>
                    <a:lstStyle/>
                    <a:p>
                      <a:r>
                        <a:rPr sz="1100" b="0">
                          <a:solidFill>
                            <a:srgbClr val="262626"/>
                          </a:solidFill>
                          <a:latin typeface="Calibri"/>
                        </a:rPr>
                        <a:t>1</a:t>
                      </a:r>
                    </a:p>
                  </a:txBody>
                  <a:tcPr marL="91440" marR="91440" marT="27432" marB="27432" anchor="ctr">
                    <a:solidFill>
                      <a:srgbClr val="F2F2F2"/>
                    </a:solidFill>
                  </a:tcPr>
                </a:tc>
              </a:tr>
              <a:tr h="384048">
                <a:tc>
                  <a:txBody>
                    <a:bodyPr wrap="square"/>
                    <a:lstStyle/>
                    <a:p>
                      <a:r>
                        <a:rPr sz="1100" b="1">
                          <a:solidFill>
                            <a:srgbClr val="262626"/>
                          </a:solidFill>
                          <a:latin typeface="Calibri"/>
                        </a:rPr>
                        <a:t>4</a:t>
                      </a:r>
                    </a:p>
                  </a:txBody>
                  <a:tcPr marL="91440" marR="91440" marT="27432" marB="27432" anchor="ctr">
                    <a:solidFill>
                      <a:srgbClr val="FFFFFF"/>
                    </a:solidFill>
                  </a:tcPr>
                </a:tc>
                <a:tc>
                  <a:txBody>
                    <a:bodyPr wrap="square"/>
                    <a:lstStyle/>
                    <a:p>
                      <a:r>
                        <a:rPr sz="1100" b="0">
                          <a:solidFill>
                            <a:srgbClr val="262626"/>
                          </a:solidFill>
                          <a:latin typeface="Calibri"/>
                        </a:rPr>
                        <a:t>Parliamentary election delivers narrow coalition path</a:t>
                      </a:r>
                    </a:p>
                  </a:txBody>
                  <a:tcPr marL="91440" marR="91440" marT="27432" marB="27432" anchor="ctr">
                    <a:solidFill>
                      <a:srgbClr val="FFFFFF"/>
                    </a:solidFill>
                  </a:tcPr>
                </a:tc>
                <a:tc>
                  <a:txBody>
                    <a:bodyPr wrap="square"/>
                    <a:lstStyle/>
                    <a:p>
                      <a:r>
                        <a:rPr sz="1100" b="0">
                          <a:solidFill>
                            <a:srgbClr val="262626"/>
                          </a:solidFill>
                          <a:latin typeface="Calibri"/>
                        </a:rPr>
                        <a:t>3</a:t>
                      </a:r>
                    </a:p>
                  </a:txBody>
                  <a:tcPr marL="91440" marR="91440" marT="27432" marB="27432" anchor="ctr">
                    <a:solidFill>
                      <a:srgbClr val="FFFFFF"/>
                    </a:solidFill>
                  </a:tcPr>
                </a:tc>
                <a:tc>
                  <a:txBody>
                    <a:bodyPr wrap="square"/>
                    <a:lstStyle/>
                    <a:p>
                      <a:r>
                        <a:rPr sz="1100" b="0">
                          <a:solidFill>
                            <a:srgbClr val="262626"/>
                          </a:solidFill>
                          <a:latin typeface="Calibri"/>
                        </a:rPr>
                        <a:t>0</a:t>
                      </a:r>
                    </a:p>
                  </a:txBody>
                  <a:tcPr marL="91440" marR="91440" marT="27432" marB="27432" anchor="ctr">
                    <a:solidFill>
                      <a:srgbClr val="FFFFFF"/>
                    </a:solidFill>
                  </a:tcPr>
                </a:tc>
              </a:tr>
              <a:tr h="384048">
                <a:tc>
                  <a:txBody>
                    <a:bodyPr wrap="square"/>
                    <a:lstStyle/>
                    <a:p>
                      <a:r>
                        <a:rPr sz="1100" b="1">
                          <a:solidFill>
                            <a:srgbClr val="262626"/>
                          </a:solidFill>
                          <a:latin typeface="Calibri"/>
                        </a:rPr>
                        <a:t>5</a:t>
                      </a:r>
                    </a:p>
                  </a:txBody>
                  <a:tcPr marL="91440" marR="91440" marT="27432" marB="27432" anchor="ctr">
                    <a:solidFill>
                      <a:srgbClr val="F2F2F2"/>
                    </a:solidFill>
                  </a:tcPr>
                </a:tc>
                <a:tc>
                  <a:txBody>
                    <a:bodyPr wrap="square"/>
                    <a:lstStyle/>
                    <a:p>
                      <a:r>
                        <a:rPr sz="1100" b="0">
                          <a:solidFill>
                            <a:srgbClr val="262626"/>
                          </a:solidFill>
                          <a:latin typeface="Calibri"/>
                        </a:rPr>
                        <a:t>Northgate Semiconductor posts record quarterly revenue</a:t>
                      </a:r>
                    </a:p>
                  </a:txBody>
                  <a:tcPr marL="91440" marR="91440" marT="27432" marB="27432" anchor="ctr">
                    <a:solidFill>
                      <a:srgbClr val="F2F2F2"/>
                    </a:solidFill>
                  </a:tcPr>
                </a:tc>
                <a:tc>
                  <a:txBody>
                    <a:bodyPr wrap="square"/>
                    <a:lstStyle/>
                    <a:p>
                      <a:r>
                        <a:rPr sz="1100" b="0">
                          <a:solidFill>
                            <a:srgbClr val="262626"/>
                          </a:solidFill>
                          <a:latin typeface="Calibri"/>
                        </a:rPr>
                        <a:t>3</a:t>
                      </a:r>
                    </a:p>
                  </a:txBody>
                  <a:tcPr marL="91440" marR="91440" marT="27432" marB="27432" anchor="ctr">
                    <a:solidFill>
                      <a:srgbClr val="F2F2F2"/>
                    </a:solidFill>
                  </a:tcPr>
                </a:tc>
                <a:tc>
                  <a:txBody>
                    <a:bodyPr wrap="square"/>
                    <a:lstStyle/>
                    <a:p>
                      <a:r>
                        <a:rPr sz="1100" b="0">
                          <a:solidFill>
                            <a:srgbClr val="262626"/>
                          </a:solidFill>
                          <a:latin typeface="Calibri"/>
                        </a:rPr>
                        <a:t>0</a:t>
                      </a:r>
                    </a:p>
                  </a:txBody>
                  <a:tcPr marL="91440" marR="91440" marT="27432" marB="27432" anchor="ctr">
                    <a:solidFill>
                      <a:srgbClr val="F2F2F2"/>
                    </a:solidFill>
                  </a:tcPr>
                </a:tc>
              </a:tr>
              <a:tr h="384048">
                <a:tc>
                  <a:txBody>
                    <a:bodyPr wrap="square"/>
                    <a:lstStyle/>
                    <a:p>
                      <a:r>
                        <a:rPr sz="1100" b="1">
                          <a:solidFill>
                            <a:srgbClr val="262626"/>
                          </a:solidFill>
                          <a:latin typeface="Calibri"/>
                        </a:rPr>
                        <a:t>6</a:t>
                      </a:r>
                    </a:p>
                  </a:txBody>
                  <a:tcPr marL="91440" marR="91440" marT="27432" marB="27432" anchor="ctr">
                    <a:solidFill>
                      <a:srgbClr val="FFFFFF"/>
                    </a:solidFill>
                  </a:tcPr>
                </a:tc>
                <a:tc>
                  <a:txBody>
                    <a:bodyPr wrap="square"/>
                    <a:lstStyle/>
                    <a:p>
                      <a:r>
                        <a:rPr sz="1100" b="0">
                          <a:solidFill>
                            <a:srgbClr val="262626"/>
                          </a:solidFill>
                          <a:latin typeface="Calibri"/>
                        </a:rPr>
                        <a:t>Monsoon floods disrupt rail services across coastal districts</a:t>
                      </a:r>
                    </a:p>
                  </a:txBody>
                  <a:tcPr marL="91440" marR="91440" marT="27432" marB="27432" anchor="ctr">
                    <a:solidFill>
                      <a:srgbClr val="FFFFFF"/>
                    </a:solidFill>
                  </a:tcPr>
                </a:tc>
                <a:tc>
                  <a:txBody>
                    <a:bodyPr wrap="square"/>
                    <a:lstStyle/>
                    <a:p>
                      <a:r>
                        <a:rPr sz="1100" b="0">
                          <a:solidFill>
                            <a:srgbClr val="262626"/>
                          </a:solidFill>
                          <a:latin typeface="Calibri"/>
                        </a:rPr>
                        <a:t>2</a:t>
                      </a:r>
                    </a:p>
                  </a:txBody>
                  <a:tcPr marL="91440" marR="91440" marT="27432" marB="27432" anchor="ctr">
                    <a:solidFill>
                      <a:srgbClr val="FFFFFF"/>
                    </a:solidFill>
                  </a:tcPr>
                </a:tc>
                <a:tc>
                  <a:txBody>
                    <a:bodyPr wrap="square"/>
                    <a:lstStyle/>
                    <a:p>
                      <a:r>
                        <a:rPr sz="1100" b="0">
                          <a:solidFill>
                            <a:srgbClr val="262626"/>
                          </a:solidFill>
                          <a:latin typeface="Calibri"/>
                        </a:rPr>
                        <a:t>0</a:t>
                      </a:r>
                    </a:p>
                  </a:txBody>
                  <a:tcPr marL="91440" marR="91440" marT="27432" marB="27432" anchor="ctr">
                    <a:solidFill>
                      <a:srgbClr val="FFFFFF"/>
                    </a:solidFill>
                  </a:tcPr>
                </a:tc>
              </a:tr>
              <a:tr h="384048">
                <a:tc>
                  <a:txBody>
                    <a:bodyPr wrap="square"/>
                    <a:lstStyle/>
                    <a:p>
                      <a:r>
                        <a:rPr sz="1100" b="1">
                          <a:solidFill>
                            <a:srgbClr val="262626"/>
                          </a:solidFill>
                          <a:latin typeface="Calibri"/>
                        </a:rPr>
                        <a:t>7</a:t>
                      </a:r>
                    </a:p>
                  </a:txBody>
                  <a:tcPr marL="91440" marR="91440" marT="27432" marB="27432" anchor="ctr">
                    <a:solidFill>
                      <a:srgbClr val="F2F2F2"/>
                    </a:solidFill>
                  </a:tcPr>
                </a:tc>
                <a:tc>
                  <a:txBody>
                    <a:bodyPr wrap="square"/>
                    <a:lstStyle/>
                    <a:p>
                      <a:r>
                        <a:rPr sz="1100" b="0">
                          <a:solidFill>
                            <a:srgbClr val="262626"/>
                          </a:solidFill>
                          <a:latin typeface="Calibri"/>
                        </a:rPr>
                        <a:t>Space agency confirms launch window for lunar lander</a:t>
                      </a:r>
                    </a:p>
                  </a:txBody>
                  <a:tcPr marL="91440" marR="91440" marT="27432" marB="27432" anchor="ctr">
                    <a:solidFill>
                      <a:srgbClr val="F2F2F2"/>
                    </a:solidFill>
                  </a:tcPr>
                </a:tc>
                <a:tc>
                  <a:txBody>
                    <a:bodyPr wrap="square"/>
                    <a:lstStyle/>
                    <a:p>
                      <a:r>
                        <a:rPr sz="1100" b="0">
                          <a:solidFill>
                            <a:srgbClr val="262626"/>
                          </a:solidFill>
                          <a:latin typeface="Calibri"/>
                        </a:rPr>
                        <a:t>1</a:t>
                      </a:r>
                    </a:p>
                  </a:txBody>
                  <a:tcPr marL="91440" marR="91440" marT="27432" marB="27432" anchor="ctr">
                    <a:solidFill>
                      <a:srgbClr val="F2F2F2"/>
                    </a:solidFill>
                  </a:tcPr>
                </a:tc>
                <a:tc>
                  <a:txBody>
                    <a:bodyPr wrap="square"/>
                    <a:lstStyle/>
                    <a:p>
                      <a:r>
                        <a:rPr sz="1100" b="0">
                          <a:solidFill>
                            <a:srgbClr val="262626"/>
                          </a:solidFill>
                          <a:latin typeface="Calibri"/>
                        </a:rPr>
                        <a:t>0</a:t>
                      </a:r>
                    </a:p>
                  </a:txBody>
                  <a:tcPr marL="91440" marR="91440" marT="27432" marB="27432" anchor="ctr">
                    <a:solidFill>
                      <a:srgbClr val="F2F2F2"/>
                    </a:solidFill>
                  </a:tcPr>
                </a:tc>
              </a:tr>
            </a:tbl>
          </a:graphicData>
        </a:graphic>
      </p:graphicFrame>
      <p:sp>
        <p:nvSpPr>
          <p:cNvPr id="10" name="Rounded Rectangle 9"/>
          <p:cNvSpPr/>
          <p:nvPr/>
        </p:nvSpPr>
        <p:spPr>
          <a:xfrm>
            <a:off x="6400800" y="1188720"/>
            <a:ext cx="5074920" cy="48920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675120" y="1325880"/>
            <a:ext cx="4526280" cy="4663440"/>
          </a:xfrm>
          <a:prstGeom prst="rect">
            <a:avLst/>
          </a:prstGeom>
          <a:noFill/>
        </p:spPr>
        <p:txBody>
          <a:bodyPr wrap="square" lIns="0" rIns="0" tIns="0" bIns="0" anchor="t">
            <a:spAutoFit/>
          </a:bodyPr>
          <a:lstStyle/>
          <a:p>
            <a:pPr algn="l">
              <a:spcAft>
                <a:spcPts val="800"/>
              </a:spcAft>
            </a:pPr>
            <a:r>
              <a:rPr sz="1800" b="1" i="0">
                <a:solidFill>
                  <a:srgbClr val="C00000"/>
                </a:solidFill>
                <a:latin typeface="Calibri"/>
              </a:rPr>
              <a:t>What the platform delivers</a:t>
            </a:r>
          </a:p>
          <a:p>
            <a:pPr algn="l" marL="256032" indent="-256032">
              <a:spcAft>
                <a:spcPts val="800"/>
              </a:spcAft>
              <a:buClr>
                <a:srgbClr val="C00000"/>
              </a:buClr>
              <a:buFont typeface="Arial"/>
              <a:buChar char="•"/>
            </a:pPr>
            <a:r>
              <a:rPr sz="1500" b="0" i="0">
                <a:solidFill>
                  <a:srgbClr val="262626"/>
                </a:solidFill>
                <a:latin typeface="Calibri"/>
              </a:rPr>
              <a:t>Articles grouped into story clusters with a lead article</a:t>
            </a:r>
          </a:p>
          <a:p>
            <a:pPr algn="l" marL="256032" indent="-256032">
              <a:spcAft>
                <a:spcPts val="800"/>
              </a:spcAft>
              <a:buClr>
                <a:srgbClr val="C00000"/>
              </a:buClr>
              <a:buFont typeface="Arial"/>
              <a:buChar char="•"/>
            </a:pPr>
            <a:r>
              <a:rPr sz="1500" b="0" i="0">
                <a:solidFill>
                  <a:srgbClr val="262626"/>
                </a:solidFill>
                <a:latin typeface="Calibri"/>
              </a:rPr>
              <a:t>Duplicate copies detected (83–87% overlap)</a:t>
            </a:r>
          </a:p>
          <a:p>
            <a:pPr algn="l" marL="256032" indent="-256032">
              <a:spcAft>
                <a:spcPts val="800"/>
              </a:spcAft>
              <a:buClr>
                <a:srgbClr val="C00000"/>
              </a:buClr>
              <a:buFont typeface="Arial"/>
              <a:buChar char="•"/>
            </a:pPr>
            <a:r>
              <a:rPr sz="1500" b="0" i="0">
                <a:solidFill>
                  <a:srgbClr val="262626"/>
                </a:solidFill>
                <a:latin typeface="Calibri"/>
              </a:rPr>
              <a:t>Story cards shown on the dashboard</a:t>
            </a:r>
          </a:p>
          <a:p>
            <a:pPr algn="l" marL="256032" indent="-256032">
              <a:spcAft>
                <a:spcPts val="800"/>
              </a:spcAft>
              <a:buClr>
                <a:srgbClr val="C00000"/>
              </a:buClr>
              <a:buFont typeface="Arial"/>
              <a:buChar char="•"/>
            </a:pPr>
            <a:r>
              <a:rPr sz="1500" b="0" i="0">
                <a:solidFill>
                  <a:srgbClr val="262626"/>
                </a:solidFill>
                <a:latin typeface="Calibri"/>
              </a:rPr>
              <a:t>Search returns results as you type</a:t>
            </a:r>
          </a:p>
          <a:p>
            <a:pPr algn="l" marL="256032" indent="-256032">
              <a:spcAft>
                <a:spcPts val="800"/>
              </a:spcAft>
              <a:buClr>
                <a:srgbClr val="C00000"/>
              </a:buClr>
              <a:buFont typeface="Arial"/>
              <a:buChar char="•"/>
            </a:pPr>
            <a:r>
              <a:rPr sz="1500" b="0" i="0">
                <a:solidFill>
                  <a:srgbClr val="262626"/>
                </a:solidFill>
                <a:latin typeface="Calibri"/>
              </a:rPr>
              <a:t>Front page (8 slots): 4 best stories chosen by DP</a:t>
            </a:r>
          </a:p>
          <a:p>
            <a:pPr algn="l" marL="256032" indent="-256032">
              <a:spcAft>
                <a:spcPts val="800"/>
              </a:spcAft>
              <a:buClr>
                <a:srgbClr val="C00000"/>
              </a:buClr>
              <a:buFont typeface="Arial"/>
              <a:buChar char="•"/>
            </a:pPr>
            <a:r>
              <a:rPr sz="1500" b="0" i="0">
                <a:solidFill>
                  <a:srgbClr val="262626"/>
                </a:solidFill>
                <a:latin typeface="Calibri"/>
              </a:rPr>
              <a:t>Editor desk: all 7 stories assigned to 5 editors within capacity</a:t>
            </a:r>
          </a:p>
          <a:p>
            <a:pPr algn="l" marL="256032" indent="-256032">
              <a:spcAft>
                <a:spcPts val="800"/>
              </a:spcAft>
              <a:buClr>
                <a:srgbClr val="C00000"/>
              </a:buClr>
              <a:buFont typeface="Arial"/>
              <a:buChar char="•"/>
            </a:pPr>
            <a:r>
              <a:rPr sz="1500" b="0" i="0">
                <a:solidFill>
                  <a:srgbClr val="262626"/>
                </a:solidFill>
                <a:latin typeface="Calibri"/>
              </a:rPr>
              <a:t>Just 4 of 15 publishers cover all 7 stories</a:t>
            </a:r>
          </a:p>
        </p:txBody>
      </p:sp>
    </p:spTree>
    <p:extLst>
      <p:ext uri="{BB962C8B-B14F-4D97-AF65-F5344CB8AC3E}">
        <p14:creationId xmlns:p14="http://schemas.microsoft.com/office/powerpoint/2010/main" val="106092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901440" y="219456"/>
            <a:ext cx="4389120" cy="566928"/>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600" b="1">
                <a:solidFill>
                  <a:srgbClr val="FFFFFF"/>
                </a:solidFill>
                <a:latin typeface="Calibri"/>
              </a:rPr>
              <a:t>Conclusion</a:t>
            </a:r>
            <a:endParaRPr lang="en-US"/>
          </a:p>
        </p:txBody>
      </p:sp>
      <p:sp>
        <p:nvSpPr>
          <p:cNvPr id="3" name="Rounded Rectangle 2"/>
          <p:cNvSpPr/>
          <p:nvPr/>
        </p:nvSpPr>
        <p:spPr>
          <a:xfrm>
            <a:off x="822960" y="1234440"/>
            <a:ext cx="10543032" cy="1463040"/>
          </a:xfrm>
          <a:prstGeom prst="roundRect">
            <a:avLst>
              <a:gd name="adj" fmla="val 8000"/>
            </a:avLst>
          </a:prstGeom>
          <a:solidFill>
            <a:srgbClr val="FBE5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800" b="0" i="0">
                <a:solidFill>
                  <a:srgbClr val="262626"/>
                </a:solidFill>
                <a:latin typeface="Calibri"/>
              </a:rPr>
              <a:t>This project demonstrates how real newsroom problems can be solved using core DSA concepts. It combines frontend, backend, database and algorithms to build a practical story clustering and deduplication platform.</a:t>
            </a:r>
          </a:p>
        </p:txBody>
      </p:sp>
      <p:sp>
        <p:nvSpPr>
          <p:cNvPr id="4" name="Rounded Rectangle 3"/>
          <p:cNvSpPr/>
          <p:nvPr/>
        </p:nvSpPr>
        <p:spPr>
          <a:xfrm>
            <a:off x="822960" y="3017520"/>
            <a:ext cx="3355848" cy="27432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97280" y="3200400"/>
            <a:ext cx="2807208" cy="2468880"/>
          </a:xfrm>
          <a:prstGeom prst="rect">
            <a:avLst/>
          </a:prstGeom>
          <a:noFill/>
        </p:spPr>
        <p:txBody>
          <a:bodyPr wrap="square" lIns="0" rIns="0" tIns="0" bIns="0" anchor="t">
            <a:spAutoFit/>
          </a:bodyPr>
          <a:lstStyle/>
          <a:p>
            <a:pPr algn="l">
              <a:spcAft>
                <a:spcPts val="800"/>
              </a:spcAft>
            </a:pPr>
            <a:r>
              <a:rPr sz="2400" b="1" i="0">
                <a:solidFill>
                  <a:srgbClr val="C00000"/>
                </a:solidFill>
                <a:latin typeface="Calibri"/>
              </a:rPr>
              <a:t>Faster</a:t>
            </a:r>
          </a:p>
          <a:p>
            <a:pPr algn="l">
              <a:spcAft>
                <a:spcPts val="800"/>
              </a:spcAft>
            </a:pPr>
            <a:r>
              <a:rPr sz="1600" b="0" i="0">
                <a:solidFill>
                  <a:srgbClr val="262626"/>
                </a:solidFill>
                <a:latin typeface="Calibri"/>
              </a:rPr>
              <a:t>Hashing and MinHash avoid slow full-text comparison</a:t>
            </a:r>
          </a:p>
        </p:txBody>
      </p:sp>
      <p:sp>
        <p:nvSpPr>
          <p:cNvPr id="6" name="Rounded Rectangle 5"/>
          <p:cNvSpPr/>
          <p:nvPr/>
        </p:nvSpPr>
        <p:spPr>
          <a:xfrm>
            <a:off x="4416552" y="3017520"/>
            <a:ext cx="3355848" cy="27432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690872" y="3200400"/>
            <a:ext cx="2807208" cy="2468880"/>
          </a:xfrm>
          <a:prstGeom prst="rect">
            <a:avLst/>
          </a:prstGeom>
          <a:noFill/>
        </p:spPr>
        <p:txBody>
          <a:bodyPr wrap="square" lIns="0" rIns="0" tIns="0" bIns="0" anchor="t">
            <a:spAutoFit/>
          </a:bodyPr>
          <a:lstStyle/>
          <a:p>
            <a:pPr algn="l">
              <a:spcAft>
                <a:spcPts val="800"/>
              </a:spcAft>
            </a:pPr>
            <a:r>
              <a:rPr sz="2400" b="1" i="0">
                <a:solidFill>
                  <a:srgbClr val="C00000"/>
                </a:solidFill>
                <a:latin typeface="Calibri"/>
              </a:rPr>
              <a:t>Cleaner</a:t>
            </a:r>
          </a:p>
          <a:p>
            <a:pPr algn="l">
              <a:spcAft>
                <a:spcPts val="800"/>
              </a:spcAft>
            </a:pPr>
            <a:r>
              <a:rPr sz="1600" b="0" i="0">
                <a:solidFill>
                  <a:srgbClr val="262626"/>
                </a:solidFill>
                <a:latin typeface="Calibri"/>
              </a:rPr>
              <a:t>Duplicates removed; one card per story</a:t>
            </a:r>
          </a:p>
        </p:txBody>
      </p:sp>
      <p:sp>
        <p:nvSpPr>
          <p:cNvPr id="8" name="Rounded Rectangle 7"/>
          <p:cNvSpPr/>
          <p:nvPr/>
        </p:nvSpPr>
        <p:spPr>
          <a:xfrm>
            <a:off x="8010144" y="3017520"/>
            <a:ext cx="3355848" cy="27432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84464" y="3200400"/>
            <a:ext cx="2807208" cy="2468880"/>
          </a:xfrm>
          <a:prstGeom prst="rect">
            <a:avLst/>
          </a:prstGeom>
          <a:noFill/>
        </p:spPr>
        <p:txBody>
          <a:bodyPr wrap="square" lIns="0" rIns="0" tIns="0" bIns="0" anchor="t">
            <a:spAutoFit/>
          </a:bodyPr>
          <a:lstStyle/>
          <a:p>
            <a:pPr algn="l">
              <a:spcAft>
                <a:spcPts val="800"/>
              </a:spcAft>
            </a:pPr>
            <a:r>
              <a:rPr sz="2400" b="1" i="0">
                <a:solidFill>
                  <a:srgbClr val="C00000"/>
                </a:solidFill>
                <a:latin typeface="Calibri"/>
              </a:rPr>
              <a:t>Smarter</a:t>
            </a:r>
          </a:p>
          <a:p>
            <a:pPr algn="l">
              <a:spcAft>
                <a:spcPts val="800"/>
              </a:spcAft>
            </a:pPr>
            <a:r>
              <a:rPr sz="1600" b="0" i="0">
                <a:solidFill>
                  <a:srgbClr val="262626"/>
                </a:solidFill>
                <a:latin typeface="Calibri"/>
              </a:rPr>
              <a:t>Ranking, search, front page and editor tools in one dashboard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901440" y="219456"/>
            <a:ext cx="4389120" cy="566928"/>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600" b="1">
                <a:solidFill>
                  <a:srgbClr val="FFFFFF"/>
                </a:solidFill>
                <a:latin typeface="Calibri"/>
              </a:rPr>
              <a:t>Future Scope</a:t>
            </a:r>
            <a:endParaRPr lang="en-US"/>
          </a:p>
        </p:txBody>
      </p:sp>
      <p:sp>
        <p:nvSpPr>
          <p:cNvPr id="4" name="Rounded Rectangle 3"/>
          <p:cNvSpPr/>
          <p:nvPr/>
        </p:nvSpPr>
        <p:spPr>
          <a:xfrm>
            <a:off x="822960" y="1234440"/>
            <a:ext cx="3355848" cy="21945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97280" y="1463040"/>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1</a:t>
            </a:r>
          </a:p>
        </p:txBody>
      </p:sp>
      <p:sp>
        <p:nvSpPr>
          <p:cNvPr id="6" name="TextBox 5"/>
          <p:cNvSpPr txBox="1"/>
          <p:nvPr/>
        </p:nvSpPr>
        <p:spPr>
          <a:xfrm>
            <a:off x="1097280" y="2103120"/>
            <a:ext cx="2807208" cy="1280160"/>
          </a:xfrm>
          <a:prstGeom prst="rect">
            <a:avLst/>
          </a:prstGeom>
          <a:noFill/>
        </p:spPr>
        <p:txBody>
          <a:bodyPr wrap="square" lIns="0" rIns="0" tIns="0" bIns="0" anchor="t">
            <a:spAutoFit/>
          </a:bodyPr>
          <a:lstStyle/>
          <a:p>
            <a:pPr algn="l">
              <a:spcAft>
                <a:spcPts val="400"/>
              </a:spcAft>
            </a:pPr>
            <a:r>
              <a:rPr sz="1700" b="1" i="0">
                <a:solidFill>
                  <a:srgbClr val="262626"/>
                </a:solidFill>
                <a:latin typeface="Calibri"/>
              </a:rPr>
              <a:t>Live news feeds</a:t>
            </a:r>
          </a:p>
          <a:p>
            <a:pPr algn="l">
              <a:spcAft>
                <a:spcPts val="400"/>
              </a:spcAft>
            </a:pPr>
            <a:r>
              <a:rPr sz="1500" b="0" i="0">
                <a:solidFill>
                  <a:srgbClr val="262626"/>
                </a:solidFill>
                <a:latin typeface="Calibri"/>
              </a:rPr>
              <a:t>Read RSS and wire APIs in real time instead of sample JSON</a:t>
            </a:r>
          </a:p>
        </p:txBody>
      </p:sp>
      <p:sp>
        <p:nvSpPr>
          <p:cNvPr id="7" name="Rounded Rectangle 6"/>
          <p:cNvSpPr/>
          <p:nvPr/>
        </p:nvSpPr>
        <p:spPr>
          <a:xfrm>
            <a:off x="4416552" y="1234440"/>
            <a:ext cx="3355848" cy="21945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690872" y="1463040"/>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2</a:t>
            </a:r>
          </a:p>
        </p:txBody>
      </p:sp>
      <p:sp>
        <p:nvSpPr>
          <p:cNvPr id="9" name="TextBox 8"/>
          <p:cNvSpPr txBox="1"/>
          <p:nvPr/>
        </p:nvSpPr>
        <p:spPr>
          <a:xfrm>
            <a:off x="4690872" y="2103120"/>
            <a:ext cx="2807208" cy="1280160"/>
          </a:xfrm>
          <a:prstGeom prst="rect">
            <a:avLst/>
          </a:prstGeom>
          <a:noFill/>
        </p:spPr>
        <p:txBody>
          <a:bodyPr wrap="square" lIns="0" rIns="0" tIns="0" bIns="0" anchor="t">
            <a:spAutoFit/>
          </a:bodyPr>
          <a:lstStyle/>
          <a:p>
            <a:pPr algn="l">
              <a:spcAft>
                <a:spcPts val="400"/>
              </a:spcAft>
            </a:pPr>
            <a:r>
              <a:rPr sz="1700" b="1" i="0">
                <a:solidFill>
                  <a:srgbClr val="262626"/>
                </a:solidFill>
                <a:latin typeface="Calibri"/>
              </a:rPr>
              <a:t>Scale with LSH</a:t>
            </a:r>
          </a:p>
          <a:p>
            <a:pPr algn="l">
              <a:spcAft>
                <a:spcPts val="400"/>
              </a:spcAft>
            </a:pPr>
            <a:r>
              <a:rPr sz="1500" b="0" i="0">
                <a:solidFill>
                  <a:srgbClr val="262626"/>
                </a:solidFill>
                <a:latin typeface="Calibri"/>
              </a:rPr>
              <a:t>Add MinHash LSH banding to handle millions of articles</a:t>
            </a:r>
          </a:p>
        </p:txBody>
      </p:sp>
      <p:sp>
        <p:nvSpPr>
          <p:cNvPr id="10" name="Rounded Rectangle 9"/>
          <p:cNvSpPr/>
          <p:nvPr/>
        </p:nvSpPr>
        <p:spPr>
          <a:xfrm>
            <a:off x="8010144" y="1234440"/>
            <a:ext cx="3355848" cy="21945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284464" y="1463040"/>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3</a:t>
            </a:r>
          </a:p>
        </p:txBody>
      </p:sp>
      <p:sp>
        <p:nvSpPr>
          <p:cNvPr id="12" name="TextBox 11"/>
          <p:cNvSpPr txBox="1"/>
          <p:nvPr/>
        </p:nvSpPr>
        <p:spPr>
          <a:xfrm>
            <a:off x="8284464" y="2103120"/>
            <a:ext cx="2807208" cy="1280160"/>
          </a:xfrm>
          <a:prstGeom prst="rect">
            <a:avLst/>
          </a:prstGeom>
          <a:noFill/>
        </p:spPr>
        <p:txBody>
          <a:bodyPr wrap="square" lIns="0" rIns="0" tIns="0" bIns="0" anchor="t">
            <a:spAutoFit/>
          </a:bodyPr>
          <a:lstStyle/>
          <a:p>
            <a:pPr algn="l">
              <a:spcAft>
                <a:spcPts val="400"/>
              </a:spcAft>
            </a:pPr>
            <a:r>
              <a:rPr sz="1700" b="1" i="0">
                <a:solidFill>
                  <a:srgbClr val="262626"/>
                </a:solidFill>
                <a:latin typeface="Calibri"/>
              </a:rPr>
              <a:t>Multilingual stories</a:t>
            </a:r>
          </a:p>
          <a:p>
            <a:pPr algn="l">
              <a:spcAft>
                <a:spcPts val="400"/>
              </a:spcAft>
            </a:pPr>
            <a:r>
              <a:rPr sz="1500" b="0" i="0">
                <a:solidFill>
                  <a:srgbClr val="262626"/>
                </a:solidFill>
                <a:latin typeface="Calibri"/>
              </a:rPr>
              <a:t>Cluster Hindi, Telugu and English reports of the same event</a:t>
            </a:r>
          </a:p>
        </p:txBody>
      </p:sp>
      <p:sp>
        <p:nvSpPr>
          <p:cNvPr id="13" name="Rounded Rectangle 12"/>
          <p:cNvSpPr/>
          <p:nvPr/>
        </p:nvSpPr>
        <p:spPr>
          <a:xfrm>
            <a:off x="822960" y="3657600"/>
            <a:ext cx="3355848" cy="21945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97280" y="3886200"/>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4</a:t>
            </a:r>
          </a:p>
        </p:txBody>
      </p:sp>
      <p:sp>
        <p:nvSpPr>
          <p:cNvPr id="15" name="TextBox 14"/>
          <p:cNvSpPr txBox="1"/>
          <p:nvPr/>
        </p:nvSpPr>
        <p:spPr>
          <a:xfrm>
            <a:off x="1097280" y="4526280"/>
            <a:ext cx="2807208" cy="1280160"/>
          </a:xfrm>
          <a:prstGeom prst="rect">
            <a:avLst/>
          </a:prstGeom>
          <a:noFill/>
        </p:spPr>
        <p:txBody>
          <a:bodyPr wrap="square" lIns="0" rIns="0" tIns="0" bIns="0" anchor="t">
            <a:spAutoFit/>
          </a:bodyPr>
          <a:lstStyle/>
          <a:p>
            <a:pPr algn="l">
              <a:spcAft>
                <a:spcPts val="400"/>
              </a:spcAft>
            </a:pPr>
            <a:r>
              <a:rPr sz="1700" b="1" i="0">
                <a:solidFill>
                  <a:srgbClr val="262626"/>
                </a:solidFill>
                <a:latin typeface="Calibri"/>
              </a:rPr>
              <a:t>Meaning-based similarity</a:t>
            </a:r>
          </a:p>
          <a:p>
            <a:pPr algn="l">
              <a:spcAft>
                <a:spcPts val="400"/>
              </a:spcAft>
            </a:pPr>
            <a:r>
              <a:rPr sz="1500" b="0" i="0">
                <a:solidFill>
                  <a:srgbClr val="262626"/>
                </a:solidFill>
                <a:latin typeface="Calibri"/>
              </a:rPr>
              <a:t>Use sentence embeddings to catch heavily reworded stories</a:t>
            </a:r>
          </a:p>
        </p:txBody>
      </p:sp>
      <p:sp>
        <p:nvSpPr>
          <p:cNvPr id="16" name="Rounded Rectangle 15"/>
          <p:cNvSpPr/>
          <p:nvPr/>
        </p:nvSpPr>
        <p:spPr>
          <a:xfrm>
            <a:off x="4416552" y="3657600"/>
            <a:ext cx="3355848" cy="21945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690872" y="3886200"/>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5</a:t>
            </a:r>
          </a:p>
        </p:txBody>
      </p:sp>
      <p:sp>
        <p:nvSpPr>
          <p:cNvPr id="18" name="TextBox 17"/>
          <p:cNvSpPr txBox="1"/>
          <p:nvPr/>
        </p:nvSpPr>
        <p:spPr>
          <a:xfrm>
            <a:off x="4690872" y="4526280"/>
            <a:ext cx="2807208" cy="1280160"/>
          </a:xfrm>
          <a:prstGeom prst="rect">
            <a:avLst/>
          </a:prstGeom>
          <a:noFill/>
        </p:spPr>
        <p:txBody>
          <a:bodyPr wrap="square" lIns="0" rIns="0" tIns="0" bIns="0" anchor="t">
            <a:spAutoFit/>
          </a:bodyPr>
          <a:lstStyle/>
          <a:p>
            <a:pPr algn="l">
              <a:spcAft>
                <a:spcPts val="400"/>
              </a:spcAft>
            </a:pPr>
            <a:r>
              <a:rPr sz="1700" b="1" i="0">
                <a:solidFill>
                  <a:srgbClr val="262626"/>
                </a:solidFill>
                <a:latin typeface="Calibri"/>
              </a:rPr>
              <a:t>Entity tagging</a:t>
            </a:r>
          </a:p>
          <a:p>
            <a:pPr algn="l">
              <a:spcAft>
                <a:spcPts val="400"/>
              </a:spcAft>
            </a:pPr>
            <a:r>
              <a:rPr sz="1500" b="0" i="0">
                <a:solidFill>
                  <a:srgbClr val="262626"/>
                </a:solidFill>
                <a:latin typeface="Calibri"/>
              </a:rPr>
              <a:t>Detect people, places and organisations for better grouping</a:t>
            </a:r>
          </a:p>
        </p:txBody>
      </p:sp>
      <p:sp>
        <p:nvSpPr>
          <p:cNvPr id="19" name="Rounded Rectangle 18"/>
          <p:cNvSpPr/>
          <p:nvPr/>
        </p:nvSpPr>
        <p:spPr>
          <a:xfrm>
            <a:off x="8010144" y="3657600"/>
            <a:ext cx="3355848" cy="21945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284464" y="3886200"/>
            <a:ext cx="502920" cy="5029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solidFill>
                  <a:srgbClr val="FFFFFF"/>
                </a:solidFill>
                <a:latin typeface="Calibri"/>
              </a:rPr>
              <a:t>6</a:t>
            </a:r>
          </a:p>
        </p:txBody>
      </p:sp>
      <p:sp>
        <p:nvSpPr>
          <p:cNvPr id="21" name="TextBox 20"/>
          <p:cNvSpPr txBox="1"/>
          <p:nvPr/>
        </p:nvSpPr>
        <p:spPr>
          <a:xfrm>
            <a:off x="8284464" y="4526280"/>
            <a:ext cx="2807208" cy="1280160"/>
          </a:xfrm>
          <a:prstGeom prst="rect">
            <a:avLst/>
          </a:prstGeom>
          <a:noFill/>
        </p:spPr>
        <p:txBody>
          <a:bodyPr wrap="square" lIns="0" rIns="0" tIns="0" bIns="0" anchor="t">
            <a:spAutoFit/>
          </a:bodyPr>
          <a:lstStyle/>
          <a:p>
            <a:pPr algn="l">
              <a:spcAft>
                <a:spcPts val="400"/>
              </a:spcAft>
            </a:pPr>
            <a:r>
              <a:rPr sz="1700" b="1" i="0">
                <a:solidFill>
                  <a:srgbClr val="262626"/>
                </a:solidFill>
                <a:latin typeface="Calibri"/>
              </a:rPr>
              <a:t>Cloud deployment</a:t>
            </a:r>
          </a:p>
          <a:p>
            <a:pPr algn="l">
              <a:spcAft>
                <a:spcPts val="400"/>
              </a:spcAft>
            </a:pPr>
            <a:r>
              <a:rPr sz="1500" b="0" i="0">
                <a:solidFill>
                  <a:srgbClr val="262626"/>
                </a:solidFill>
                <a:latin typeface="Calibri"/>
              </a:rPr>
              <a:t>Host on the cloud with PostgreSQL and user logins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smtClean="0"/>
              <a:t>Thank you</a:t>
            </a:r>
            <a:endParaRPr lang="en-US" sz="3200" b="1" dirty="0"/>
          </a:p>
        </p:txBody>
      </p:sp>
      <p:sp>
        <p:nvSpPr>
          <p:cNvPr id="4" name="TextBox 3"/>
          <p:cNvSpPr txBox="1"/>
          <p:nvPr/>
        </p:nvSpPr>
        <p:spPr>
          <a:xfrm>
            <a:off x="2743200" y="4206240"/>
            <a:ext cx="6702552" cy="457200"/>
          </a:xfrm>
          <a:prstGeom prst="rect">
            <a:avLst/>
          </a:prstGeom>
          <a:noFill/>
        </p:spPr>
        <p:txBody>
          <a:bodyPr wrap="square" lIns="0" rIns="0" tIns="0" bIns="0" anchor="t">
            <a:spAutoFit/>
          </a:bodyPr>
          <a:lstStyle/>
          <a:p>
            <a:pPr algn="ctr">
              <a:spcAft>
                <a:spcPts val="600"/>
              </a:spcAft>
            </a:pPr>
            <a:r>
              <a:rPr sz="2200" b="1" i="0">
                <a:solidFill>
                  <a:srgbClr val="C00000"/>
                </a:solidFill>
                <a:latin typeface="Calibri"/>
              </a:rPr>
              <a:t>Questions?</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51</TotalTime>
  <Words>59</Words>
  <Application>Microsoft Office PowerPoint</Application>
  <PresentationFormat>Widescreen</PresentationFormat>
  <Paragraphs>25</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Gautami</vt:lpstr>
      <vt:lpstr>Times New Roman</vt:lpstr>
      <vt:lpstr>Office Theme</vt:lpstr>
      <vt:lpstr>       Data Structures and Algorithms -3 (25CS2103E)  Title of the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ANITHA CHEKURI</cp:lastModifiedBy>
  <cp:revision>19</cp:revision>
  <dcterms:created xsi:type="dcterms:W3CDTF">2024-08-29T05:25:00Z</dcterms:created>
  <dcterms:modified xsi:type="dcterms:W3CDTF">2026-08-20T05:50:30Z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